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74320"/>
            <a:ext cx="2286000" cy="228600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840480"/>
            <a:ext cx="3200400" cy="3200400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BDE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绪论：人工智能与药物设计的发展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新药研发流程、成本与挑战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Pharmaceutical R&amp;D: Process, Cost &amp; Challenges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教学目标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2103120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知识理解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说清新药研发流程的主要阶段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概括每阶段核心任务与关键产出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解释成本与挑战的3类关键瓶颈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210312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463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能力训练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映射研发问题到流程环节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识别决策点与输入/输出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结构化判断：优先级/风险/策略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1645920"/>
          </a:xfrm>
          <a:prstGeom prst="rect">
            <a:avLst/>
          </a:prstGeom>
          <a:solidFill>
            <a:srgbClr val="FFF3E0"/>
          </a:solidFill>
          <a:ln w="25400">
            <a:solidFill>
              <a:srgbClr val="FF9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课堂达成要求（可评估）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快速测验：按正确顺序写出主要研发阶段，每阶段写出1个常见风险点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参与讨论：用"流程阶段—挑战—成本后果—缓解策略"四段式表达观点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新药研发流程：阶段—任务—产出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71600" cy="3474720"/>
          </a:xfrm>
          <a:prstGeom prst="rect">
            <a:avLst/>
          </a:prstGeom>
          <a:solidFill>
            <a:srgbClr val="E3F2FD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靶点提出与验证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机制、通路、疾病相关性验证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因果证据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1371600"/>
            <a:ext cx="1371600" cy="3474720"/>
          </a:xfrm>
          <a:prstGeom prst="rect">
            <a:avLst/>
          </a:prstGeom>
          <a:solidFill>
            <a:srgbClr val="E8F5E9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103120" y="219456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先导发现与优化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3200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34747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SAR研究与性质平衡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03120" y="4114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4389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可优化化合物系列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66160" y="1371600"/>
            <a:ext cx="1371600" cy="3474720"/>
          </a:xfrm>
          <a:prstGeom prst="rect">
            <a:avLst/>
          </a:prstGeom>
          <a:solidFill>
            <a:srgbClr val="FFF3E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657600" y="219456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临床前研究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0" y="3200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34747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有效性、药代/毒理、CMC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0" y="4114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4389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IND/CTA证据包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20640" y="1371600"/>
            <a:ext cx="1371600" cy="3474720"/>
          </a:xfrm>
          <a:prstGeom prst="rect">
            <a:avLst/>
          </a:prstGeom>
          <a:solidFill>
            <a:srgbClr val="FCE4EC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5212080" y="219456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临床研究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3200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0" y="34747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Ⅰ/Ⅱ/Ⅲ期试验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12080" y="4114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4389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疗效与安全性证据链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75120" y="1371600"/>
            <a:ext cx="1371600" cy="3474720"/>
          </a:xfrm>
          <a:prstGeom prst="rect">
            <a:avLst/>
          </a:prstGeom>
          <a:solidFill>
            <a:srgbClr val="E1BEE7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1554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766560" y="219456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注册与上市后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66560" y="3200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66560" y="34747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申报、监测、风险管理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66560" y="4114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66560" y="4389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真实世界数据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874520" y="2743200"/>
            <a:ext cx="274320" cy="457200"/>
          </a:xfrm>
          <a:prstGeom prst="rightArrow">
            <a:avLst/>
          </a:prstGeom>
          <a:solidFill>
            <a:srgbClr val="999999"/>
          </a:solidFill>
          <a:ln/>
        </p:spPr>
      </p:sp>
      <p:sp>
        <p:nvSpPr>
          <p:cNvPr id="39" name="Shape 37"/>
          <p:cNvSpPr/>
          <p:nvPr/>
        </p:nvSpPr>
        <p:spPr>
          <a:xfrm>
            <a:off x="3429000" y="2743200"/>
            <a:ext cx="274320" cy="457200"/>
          </a:xfrm>
          <a:prstGeom prst="rightArrow">
            <a:avLst/>
          </a:prstGeom>
          <a:solidFill>
            <a:srgbClr val="999999"/>
          </a:solidFill>
          <a:ln/>
        </p:spPr>
      </p:sp>
      <p:sp>
        <p:nvSpPr>
          <p:cNvPr id="40" name="Shape 38"/>
          <p:cNvSpPr/>
          <p:nvPr/>
        </p:nvSpPr>
        <p:spPr>
          <a:xfrm>
            <a:off x="4983480" y="2743200"/>
            <a:ext cx="274320" cy="457200"/>
          </a:xfrm>
          <a:prstGeom prst="rightArrow">
            <a:avLst/>
          </a:prstGeom>
          <a:solidFill>
            <a:srgbClr val="999999"/>
          </a:solidFill>
          <a:ln/>
        </p:spPr>
      </p:sp>
      <p:sp>
        <p:nvSpPr>
          <p:cNvPr id="41" name="Shape 39"/>
          <p:cNvSpPr/>
          <p:nvPr/>
        </p:nvSpPr>
        <p:spPr>
          <a:xfrm>
            <a:off x="6537960" y="2743200"/>
            <a:ext cx="274320" cy="457200"/>
          </a:xfrm>
          <a:prstGeom prst="rightArrow">
            <a:avLst/>
          </a:prstGeom>
          <a:solidFill>
            <a:srgbClr val="99999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成本与挑战：为何新药研发如此昂贵？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828800"/>
          </a:xfrm>
          <a:prstGeom prst="rect">
            <a:avLst/>
          </a:prstGeom>
          <a:solidFill>
            <a:srgbClr val="FFEBEE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成本构成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资金投入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⏱️ 时间成本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机会成本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🔬 资源占用（平台/动物/临床中心）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沉没成本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828800"/>
          </a:xfrm>
          <a:prstGeom prst="rect">
            <a:avLst/>
          </a:prstGeom>
          <a:solidFill>
            <a:srgbClr val="FFF3E0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463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三类关键瓶颈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时间与失败率：越往后阶段，失败代价越高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证据链与合规：临床前→临床的可转化性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数据质量与偏倚：实验可重复性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2103120"/>
          </a:xfrm>
          <a:prstGeom prst="rect">
            <a:avLst/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关键决策点：Go/No-Go 机制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靶点可信度？ → 先导可优化性？ → 临床前证据充分？ → 临床疗效显著？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核心逻辑：越往后阶段，证据等级越高、样本量越大、周期越长 → 成本呈跃迁式上升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应用场景：研发挑战的四大典型场景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1920240"/>
          </a:xfrm>
          <a:prstGeom prst="rect">
            <a:avLst/>
          </a:prstGeom>
          <a:solidFill>
            <a:srgbClr val="E3F2FD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场景A：靶点可信度不足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不同队列/模型结论不一致；遗传学与药理学证据链断裂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影响：反复验证、项目回退、早期投入沉没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920240"/>
          </a:xfrm>
          <a:prstGeom prst="rect">
            <a:avLst/>
          </a:prstGeom>
          <a:solidFill>
            <a:srgbClr val="E8F5E9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场景B：实验到临床转化困难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体外有效但动物/人体无效；人群异质性导致信号稀释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2651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影响：Ⅱ期失败常见；需精细分层或重新设计试验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3931920" cy="1920240"/>
          </a:xfrm>
          <a:prstGeom prst="rect">
            <a:avLst/>
          </a:prstGeom>
          <a:solidFill>
            <a:srgbClr val="FFF3E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57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场景C：多目标约束冲突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活性提升伴随溶解度下降；暴露不足；安全性风险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7548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影响：优化迭代次数多、周期长；可能陷入局部最优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474720"/>
            <a:ext cx="3931920" cy="1920240"/>
          </a:xfrm>
          <a:prstGeom prst="rect">
            <a:avLst/>
          </a:prstGeom>
          <a:solidFill>
            <a:srgbClr val="FCE4EC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657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场景D：数据与证据链挑战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4114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数据分散、标准不一、偏倚与不可重复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47548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影响：模型与结论不稳、决策摇摆、试验设计不合理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课堂活动与讨论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645920"/>
          </a:xfrm>
          <a:prstGeom prst="rect">
            <a:avLst/>
          </a:prstGeom>
          <a:solidFill>
            <a:srgbClr val="E1BEE7"/>
          </a:solidFill>
          <a:ln w="25400">
            <a:solidFill>
              <a:srgbClr val="8E2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A1B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1分钟投票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最"烧钱/烧时间"的阶段是哪一个？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追问：理由属于哪类约束？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（科学不确定性/工程资源/合规证据）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645920"/>
          </a:xfrm>
          <a:prstGeom prst="rect">
            <a:avLst/>
          </a:prstGeom>
          <a:solidFill>
            <a:srgbClr val="FFE0B2"/>
          </a:solidFill>
          <a:ln w="25400">
            <a:solidFill>
              <a:srgbClr val="EF6C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情景卡练习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两人一组抽取情景卡，分析：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→ 挑战类型 → 成本后果 → 下一步策略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2286000"/>
          </a:xfrm>
          <a:prstGeom prst="rect">
            <a:avLst/>
          </a:prstGeom>
          <a:solidFill>
            <a:srgbClr val="E0F2F1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9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核心讨论问题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Q1: Ⅱ期出现"疗效趋势但不显著"，问题更可能来自哪里？（靶点/分子/患者分层/试验设计）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Q2: 为什么很多公司宁愿在先导优化多花3个月，也不愿"带病上临床"？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Q3: 出现轻度肝毒信号时，应该优先做什么？（换骨架/降低暴露/补充实验/终止）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74320"/>
            <a:ext cx="2286000" cy="228600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840480"/>
            <a:ext cx="3200400" cy="3200400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BDE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下一节：AI如何介入新药研发流程？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OpenMAIC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新药研发流程、成本与挑战</dc:title>
  <dc:subject>PptxGenJS Presentation</dc:subject>
  <dc:creator>AI备课助手</dc:creator>
  <cp:lastModifiedBy>AI备课助手</cp:lastModifiedBy>
  <cp:revision>1</cp:revision>
  <dcterms:created xsi:type="dcterms:W3CDTF">2026-05-26T09:39:46Z</dcterms:created>
  <dcterms:modified xsi:type="dcterms:W3CDTF">2026-05-26T09:39:46Z</dcterms:modified>
</cp:coreProperties>
</file>