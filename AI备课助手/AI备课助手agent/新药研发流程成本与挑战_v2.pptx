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新药研发流程、成本与挑战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 R&amp;D: Process, Cost &amp; Challenges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0" y="3474720"/>
            <a:ext cx="5486400" cy="4572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绪论：人工智能与药物设计的发展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教学目标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EBF8FF"/>
          </a:solidFill>
          <a:ln w="25400">
            <a:solidFill>
              <a:srgbClr val="90CD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知识理解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说清新药研发流程的主要阶段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概括每阶段核心任务与关键产出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解释成本与挑战的3类关键瓶颈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F0FFF4"/>
          </a:solidFill>
          <a:ln w="25400">
            <a:solidFill>
              <a:srgbClr val="9AE6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能力训练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映射研发问题到流程环节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识别决策点与输入/输出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结构化判断：优先级/风险/策略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solidFill>
            <a:srgbClr val="FFFAF0"/>
          </a:solidFill>
          <a:ln w="25400">
            <a:solidFill>
              <a:srgbClr val="FBD3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课堂达成要求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快速测验：按正确顺序写出主要研发阶段，每阶段写出1个常见风险点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参与讨论：用"流程阶段—挑战—成本后果—缓解策略"四段式表达观点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新药研发流程：阶段—任务—产出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371600" cy="3840480"/>
          </a:xfrm>
          <a:prstGeom prst="rect">
            <a:avLst/>
          </a:prstGeom>
          <a:solidFill>
            <a:srgbClr val="EBF8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靶点提出与验证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机制、通路、疾病相关性验证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产出: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6749"/>
                </a:solidFill>
              </a:rPr>
              <a:t>因果证据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1371600"/>
            <a:ext cx="1371600" cy="3840480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57400" y="22860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先导发现与优化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3383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SAR研究与性质平衡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0312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产出: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4297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6749"/>
                </a:solidFill>
              </a:rPr>
              <a:t>可优化化合物系列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1371600"/>
            <a:ext cx="1371600" cy="3840480"/>
          </a:xfrm>
          <a:prstGeom prst="rect">
            <a:avLst/>
          </a:prstGeom>
          <a:solidFill>
            <a:srgbClr val="FFFA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11880" y="22860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临床前研究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3383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有效性、药代/毒理、CMC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产出: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0" y="4297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6749"/>
                </a:solidFill>
              </a:rPr>
              <a:t>IND/CTA证据包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20640" y="1371600"/>
            <a:ext cx="1371600" cy="3840480"/>
          </a:xfrm>
          <a:prstGeom prst="rect">
            <a:avLst/>
          </a:prstGeom>
          <a:solidFill>
            <a:srgbClr val="FED7D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166360" y="22860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临床研究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3383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Ⅰ/Ⅱ/Ⅲ期试验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1208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产出: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4297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6749"/>
                </a:solidFill>
              </a:rPr>
              <a:t>疗效与安全性证据链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75120" y="1371600"/>
            <a:ext cx="1371600" cy="3840480"/>
          </a:xfrm>
          <a:prstGeom prst="rect">
            <a:avLst/>
          </a:prstGeom>
          <a:solidFill>
            <a:srgbClr val="E9D8FD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720840" y="22860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注册与上市后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任务: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66560" y="3383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</a:rPr>
              <a:t>申报、监测、风险管理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6656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产出: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4297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6749"/>
                </a:solidFill>
              </a:rPr>
              <a:t>真实世界数据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74520" y="3017520"/>
            <a:ext cx="274320" cy="457200"/>
          </a:xfrm>
          <a:prstGeom prst="rightArrow">
            <a:avLst/>
          </a:prstGeom>
          <a:solidFill>
            <a:srgbClr val="A0AEC0"/>
          </a:solidFill>
          <a:ln/>
        </p:spPr>
      </p:sp>
      <p:sp>
        <p:nvSpPr>
          <p:cNvPr id="40" name="Shape 38"/>
          <p:cNvSpPr/>
          <p:nvPr/>
        </p:nvSpPr>
        <p:spPr>
          <a:xfrm>
            <a:off x="3429000" y="3017520"/>
            <a:ext cx="274320" cy="457200"/>
          </a:xfrm>
          <a:prstGeom prst="rightArrow">
            <a:avLst/>
          </a:prstGeom>
          <a:solidFill>
            <a:srgbClr val="A0AEC0"/>
          </a:solidFill>
          <a:ln/>
        </p:spPr>
      </p:sp>
      <p:sp>
        <p:nvSpPr>
          <p:cNvPr id="41" name="Shape 39"/>
          <p:cNvSpPr/>
          <p:nvPr/>
        </p:nvSpPr>
        <p:spPr>
          <a:xfrm>
            <a:off x="4983480" y="3017520"/>
            <a:ext cx="274320" cy="457200"/>
          </a:xfrm>
          <a:prstGeom prst="rightArrow">
            <a:avLst/>
          </a:prstGeom>
          <a:solidFill>
            <a:srgbClr val="A0AEC0"/>
          </a:solidFill>
          <a:ln/>
        </p:spPr>
      </p:sp>
      <p:sp>
        <p:nvSpPr>
          <p:cNvPr id="42" name="Shape 40"/>
          <p:cNvSpPr/>
          <p:nvPr/>
        </p:nvSpPr>
        <p:spPr>
          <a:xfrm>
            <a:off x="6537960" y="3017520"/>
            <a:ext cx="274320" cy="457200"/>
          </a:xfrm>
          <a:prstGeom prst="rightArrow">
            <a:avLst/>
          </a:prstGeom>
          <a:solidFill>
            <a:srgbClr val="A0AEC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成本与挑战：为何新药研发如此昂贵？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solidFill>
            <a:srgbClr val="FED7D7"/>
          </a:solidFill>
          <a:ln w="25400">
            <a:solidFill>
              <a:srgbClr val="FC81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3030"/>
                </a:solidFill>
              </a:rPr>
              <a:t>成本构成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资金投入 + 时间成本 + 机会成本 + 资源占用 + 沉没成本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solidFill>
            <a:srgbClr val="FFFAF0"/>
          </a:solidFill>
          <a:ln w="25400">
            <a:solidFill>
              <a:srgbClr val="F6E0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621"/>
                </a:solidFill>
              </a:rPr>
              <a:t>三类关键瓶颈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1. 时间与失败率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2. 证据链与合规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3. 数据质量与偏倚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solidFill>
            <a:srgbClr val="F0FFF4"/>
          </a:solidFill>
          <a:ln w="25400">
            <a:solidFill>
              <a:srgbClr val="9AE6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6749"/>
                </a:solidFill>
              </a:rPr>
              <a:t>关键决策点：Go/No-Go 机制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748"/>
                </a:solidFill>
              </a:rPr>
              <a:t>靶点可信度？ → 先导可优化性？ → 临床前证据充分？ → 临床疗效显著？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6749"/>
                </a:solidFill>
              </a:rPr>
              <a:t>核心逻辑：越往后阶段，证据等级越高、样本量越大、周期越长 → 成本呈跃迁式上升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应用场景：研发挑战的四大典型场景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EBF8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场景A：靶点可信度不足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不同队列/模型结论不一致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影响：反复验证、项目回退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场景B：实验到临床转化困难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体外有效但人体无效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影响：Ⅱ期失败常见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828800"/>
          </a:xfrm>
          <a:prstGeom prst="rect">
            <a:avLst/>
          </a:prstGeom>
          <a:solidFill>
            <a:srgbClr val="FFFA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场景C：多目标约束冲突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活性提升伴随溶解度下降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影响：优化迭代次数多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828800"/>
          </a:xfrm>
          <a:prstGeom prst="rect">
            <a:avLst/>
          </a:prstGeom>
          <a:solidFill>
            <a:srgbClr val="FED7D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场景D：数据与证据链挑战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数据分散、标准不一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4754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影响：模型与结论不稳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课堂活动与讨论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E9D8FD"/>
          </a:solidFill>
          <a:ln w="25400">
            <a:solidFill>
              <a:srgbClr val="B79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46C1"/>
                </a:solidFill>
              </a:rPr>
              <a:t>1分钟投票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最"烧钱/烧时间"的阶段是哪一个？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EEBC8"/>
          </a:solidFill>
          <a:ln w="25400">
            <a:solidFill>
              <a:srgbClr val="F6A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621"/>
                </a:solidFill>
              </a:rPr>
              <a:t>情景卡练习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两人一组分析：阶段→挑战→后果→策略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2286000"/>
          </a:xfrm>
          <a:prstGeom prst="rect">
            <a:avLst/>
          </a:prstGeom>
          <a:solidFill>
            <a:srgbClr val="E6FFFA"/>
          </a:solidFill>
          <a:ln w="25400">
            <a:solidFill>
              <a:srgbClr val="38B2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A7B"/>
                </a:solidFill>
              </a:rPr>
              <a:t>核心讨论问题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Q1: Ⅱ期出现"疗效趋势但不显著"，问题更可能来自哪里？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Q2: 为什么很多公司宁愿在先导优化多花3个月，也不愿"带病上临床"？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Q3: 出现轻度肝毒信号时，应该优先做什么？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840480"/>
            <a:ext cx="3200400" cy="32004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DE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下一节：AI如何介入新药研发流程？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OpenMAIC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新药研发流程、成本与挑战</dc:title>
  <dc:subject>PptxGenJS Presentation</dc:subject>
  <dc:creator>AI备课助手</dc:creator>
  <cp:lastModifiedBy>AI备课助手</cp:lastModifiedBy>
  <cp:revision>1</cp:revision>
  <dcterms:created xsi:type="dcterms:W3CDTF">2026-05-26T10:18:28Z</dcterms:created>
  <dcterms:modified xsi:type="dcterms:W3CDTF">2026-05-26T10:18:28Z</dcterms:modified>
</cp:coreProperties>
</file>