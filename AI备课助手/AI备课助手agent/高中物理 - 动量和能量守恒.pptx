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各位同学大家好！我是你们的物理老友 Dennis 老师。很高兴能和大家一起开启这段物理之旅。今天我们要深入探讨的主题是：碰撞中的动量与能量守恒。这不仅是考试的重点，更是理解自然界交互作用的关键。
在深入新知识之前，咱们先温故而知新。看屏幕上这个公式，这是我们之前反复强调的动量守恒定律。只要系统所受合外力为零，无论碰撞多么剧烈，初状态和末状态的总动量矢量和总是相等的。
但是，物理的世界总是充满了“变数”。大家想象一下，在清脆的击球声中，两颗台球碰撞后迅速弹开；但如果是两块橡皮泥，它们撞在一起后却会死死地粘在一起。既然动量都守恒，那为什么它们的表现如此天差地别？
这就是我想给你们设下的第一个“逻辑陷阱”：除了动量，还有什么东西在碰撞中可能发生了改变？或者说，那些消失的能量，到底去哪儿了？
通过本节课的学习，我们的目标是掌握动能守恒与不守恒的判定依据，学会区分不同类型的碰撞。准备好跟我一起层层剥开物理的真相了吗？在正式推导公式前，我想听听大家的直观感受。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刚才我们初步了解了碰撞的分类。现在，我们要深入这层“表象”，去抓那个最核心的逻辑起点：在碰撞的那一瞬间，动能到底去哪儿了？
大家想象一下，当两个台球或者两个弹性小球相撞时，在接触的那百分之一秒里，发生了什么？球的形状还是完美的圆吗？
没错，物体会发生极其微小的形变。就像挤压弹簧一样，此时动能并没有消失，而是像“存钱”一样，暂时转化为了弹性势能。等到形变恢复，这笔钱又会取出来，还给动能。
看这个流程图，动能与弹性势能之间存在着一个瞬间的“互换协议”。如果这个协议是完美的，没有手续费，也就是没有能量损耗，这就是我们要研究的理想状态。
这种碰撞前后系统总动能保持不变的理想模型，我们就称之为“弹性碰撞”。注意，这不仅是物理上的定义，更是我们推导复杂公式的数学基石。既然原理清楚了，大家觉得在现实生活中，真的存在完全不收“手续费”的碰撞吗？小明，你来分享一下你的直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既然大家刚才已经能准确识别弹性碰撞了，接下来我们就得给它写一份严谨的“数学说明书”。我们要把物理语言转化为数学方程，这就是一维弹性碰撞的数学表达。
首先是我们的老朋友——动量守恒定律。只要系统不受外力，碰撞前后的总动量永远相等。这是我们处理所有碰撞问题的头号武器。
因为是完全弹性碰撞，动能没有任何流失。所以，我们还有第二个护身符：动能守恒方程。大家看，这一串带平方的式子虽然看起来有点多，但它保证了能量的完美传递。
现在，真正的挑战来了：我们需要联立这两个方程，求出碰撞后的两个末速度。一个是一次方程，一个是二次方程，如果硬算的话，头发可能都要掉不少。那么，有没有什么优雅的代数路径呢？
我们可以玩一个小技巧：先移项，把相同质量的项归拢到等号两侧。然后，利用大家非常熟悉的平方差公式进行分解，这样就能巧妙地把二次项“约掉”。
看，经过这一番代数简化的“降维打击”，复杂的方程组瞬间变得清爽了。这不仅是数学上的便利，更隐藏着一个非常惊人的物理规律，稍后我们会揭晓。现在，大家先在脑海里复现一下这个推导过程。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刚才大家在模拟器里反复实验，可能已经隐约察觉到：无论质量如何变化，两个球靠近时的快慢和撞开后的快慢似乎总有一种关联。没错，这就是我们现在要揭晓的‘神奇结论’。
这就是由动量守恒和动能守恒方程联立推导出的核心公式：v_A 减 v_B 等于 v_B' 减 v_A'。大家看，方程两边都变成了一次项，不再有麻烦的平方了！
它的物理意义非常直观：在完全弹性碰撞中，两物体碰撞前的‘接近速度’，恰好等于碰撞后的‘远离速度’。这是一个高度对称且优美的结论。
在做题时，如果你坚持走传统路径，去解动能守恒那个带平方的二次方程，计算量会非常大，稍不留神就会算错。
而使用这个速度线性关系，相当于直接给方程组降了次，计算效率会成倍提升。记住，在考场上，简洁不仅是美，更是保命的武器。
现在请大家结合刚才的操作体验思考一下：当你面对那种好几个球连环碰撞的复杂过程时，这种‘相对速度不变’的视角，比起死记硬背动能公式，有哪些本质上的优势？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刚才我们通过相对速度的视角观察了碰撞，现在让我们把这个视角聚焦到一个极其简洁且迷人的特例上：当碰撞双方的质量完全相等时，会发生什么？
大家看这个代数结论。当 m_A 等于 m_B 时，复杂的公式瞬间坍缩了：A球碰撞后的速度变成了B球之前的速度，而B球碰撞后的速度变成了A球之前的速度。这听起来是不是像某种‘灵魂互换’？
我们给这种现象起了一个非常形象的名字，叫做‘速度大交换’。在碰撞的一瞬间，它们不仅交换了动量，还完美地交换了速度矢量。
小明，想象你在打台球，如果你用母球正撞一颗静止的目标球，根据这个结论，会发生什么有趣的事？先别急着回答，我们来看一段慢动作演示。
这就是台球里的‘定杆’。因为两球质量相等，母球把所有速度都‘传染’给了目标球，自己则完全停在原地。大家感受一下，物理定律在这一刻是不是显得格外优雅？那么，如果两球不是正碰而是斜着碰，这个速度交换还成立吗？我们接下来继续探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刚才我们讨论了等质量的情况，那是种完美的‘速度交接棒’。但在物理世界中，更多时候是‘不公平’的较量。现在我们要进入第二种特殊情况：当碰撞双方的质量悬殊巨大时，会发生什么？
大家看这个模型：一个运动的质子去撞击一个静止的氦核。它们的质量比大约是1比4。想象一下，这就好比一个灵活的小个子，全速撞向一个比他重四倍的大块头。
在看公式前，阿强，发挥你的直觉：这个‘小个子’质子撞上去后，是会继续向前冲，还是会被无情地‘弹回来’？那个沉重的氦核又会获得多大的动量呢？
我们来看看数学给出的答案。注意公式里的分子项 m1 减 m2。因为质子的质量 m1 小于氦核的 m2，所以结果是个负值！这意味着质子不仅没有穿过去，反而会反向弹回。物理学告诉我们，‘以小博大’时，小球往往要承受反弹的命运。
那么，如果我们把这种悬殊推向极致呢？比如质量比趋于无穷大，就像一个乒乓球撞向一面坚固的墙壁。这时候，乒乓球的速度会如何变化？墙壁到底有没有动？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讨论的是理想化的弹性碰撞，能量一点儿没丢，就像拥有永动机般的活力。但在现实生活中，物理法则往往会收点‘过路费’。比如你把一团橡皮泥扔向墙壁，它可不会像乒乓球那样弹回来，这就是我们要研究的——非弹性碰撞。
简单来说，只要碰撞后系统的总动能减少了，我们就称之为非弹性碰撞。动能不再是这场游戏的守恒量了。
那么，消失的动能去哪儿了？是被物理老师偷偷藏起来了吗？当然不是。它们转化成了环境中的热能、碰撞时惊天动地的声能，或者是让物体产生永久损伤的形变能。能量并没有消失，只是换了种不那么‘好动’的形式存在。
这里我得提醒大家，千万别掉进陷阱：虽然动能不守恒了，但‘动量’依然是雷打不动的守恒！而且如果算上所有形式的能量，‘总能量’也依然守恒。物理学的大厦依然稳固。
在非弹性碰撞中有一种极端情况，叫做‘完全非弹性碰撞’。两个物体撞完后直接‘合二为一’，紧紧粘在一起以同样的速度前进。这时候，系统动能的损失达到了理论上的最大值。
大家看这个公式，因为碰撞后它们共速了，所以动量守恒方程的右边变得非常简洁。这在处理铁路货车耦合或者子弹打木块的问题时非常有用。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刚才我们推导了完全非弹性碰撞的公式，现在咱们来进入实战。看看在铁路运输中，货车车厢是如何通过这种物理原理完成耦合的。
场景是这样的：两节质量完全相同的货车，都是2万公斤。其中一辆在滑动，另一辆静止，它们撞击后挂钩锁死。这就是物理学中动能损失最严重的‘完全非弹性碰撞’。
利用动量守恒定律，你会发现因为质量翻倍了，它们耦合后的速度刚好是原来的一半。计算非常简洁，但我们得深挖一下能量的流向。
看这个惊人的结果！经过严谨的动能公式对比，我们发现整整 50% 的初始动能‘凭空’消失了。当然，物理学告诉我们它没消失，而是转化成了剧烈的热能和震耳欲聋的声能。
作为工程师，如果这 50% 的能量全部化作机械形变，钩机可能瞬间就废了。所以，如何在现实设计中处理这种剧烈的能量转化？大家可以从车辆的避震或缓冲结构来思考一下。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计算讨论了动能的去向，现在让我们看一个物理学史上非常天才的应用——冲击摆。在没有高精度传感器的年代，人们就是靠这个简单的装置，利用碰撞和能量守恒，精准测出了飞速飞行的子弹初速度。
分析这个装置的关键在于“过程拆解”。首先看阶段1：子弹射入木块的瞬间。因为碰撞时间极短，重力等外力的冲量可以忽略不计，所以系统动量守恒。我们可以列出这个大家已经非常熟悉的公式：m乘以v0等于合体后的总质量乘以速度v。
紧接着是阶段2：木块带着子弹一起向上摆动。这时动能开始转化为重力势能。在这个上升过程中，机械能是守恒的。通过测量木块上升的高度h，我们就能锁定碰撞结束瞬间的那个速度v。
将这两个过程联立，我们就能得到子弹初速度的最终推导结果。大家看这个表达式，只要知道子弹和木块的质量，再量出高度h，子弹的速度就“无处遁形”了，是不是很巧妙？
不过，Dennis老师在这里要给你们挖个坑了：既然动量守恒这么好用，我们为什么不能贪省事，直接对从“子弹射入”到“摆到最高点”这整个全过程用动量守恒呢？阿强，你来试着分析一下，这个过程中到底发生了什么，让动量守恒定律在这里“失效”了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通过刚才对交通事故的实战演练，大家已经能够将理论灵活运用到复杂情境中了。在课程进入尾声之际，我们一起来对本节课的核心内容做个系统性的梳理和总结。
首先来看这张对比表。我们学习了弹性碰撞、非弹性碰撞和完全非弹性碰撞。请大家记住：无论哪种碰撞，动量守恒定律始终是成立的。但动能表现各异：弹性碰撞动能守恒，而非弹性碰撞中，动能会有不同程度的流失，特别是完全非弹性碰撞，动能损失最大。
为了更高效地解决碰撞问题，我们要熟练掌握‘两步法’。第一步是划定系统并明确过程，判断是否符合守恒条件；第二步是规范地联立动量方程和能量方程。这个逻辑框架是我们分析所有动力学问题的金钥匙。
这里有一个留给课后的深度思考题：我们今天讨论的都是一维正碰。如果两个物体是斜着碰上的，也就是二维碰撞，动量守恒定律还依然适用吗？这关系到定律的普适性边界。
物理学最令人神往的地方，就是能用极其简洁的守恒律，去解释这个复杂且看似混乱的世界。希望大家在掌握公式的同时，也能感受到这种逻辑的美感。在进入最后的测评之前，让我们先针对二维碰撞的问题展开一小段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碰撞中的动量与能量守恒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3474720" cy="27432"/>
          </a:xfrm>
          <a:custGeom>
            <a:avLst/>
            <a:gdLst/>
            <a:ahLst/>
            <a:cxnLst/>
            <a:rect l="l" t="t" r="r" b="b"/>
            <a:pathLst>
              <a:path w="3474720" h="27432">
                <a:moveTo>
                  <a:pt x="0" y="0"/>
                </a:moveTo>
                <a:lnTo>
                  <a:pt x="3474720" y="0"/>
                </a:lnTo>
                <a:lnTo>
                  <a:pt x="3474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384048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回顾：动量守恒定律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6" name="Formula 0"/>
              <p:cNvSpPr/>
              <p:nvPr/>
            </p:nvSpPr>
            <p:spPr>
              <a:xfrm>
                <a:off x="731520" y="1783080"/>
                <a:ext cx="27432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∑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limUpp>
                            <m:e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p</m:t>
                              </m:r>
                            </m:e>
                            <m:lim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→</m:t>
                              </m:r>
                            </m:lim>
                          </m:limUpp>
                        </m:e>
                        <m:sub>
                          <m:r>
                            <m:rPr>
                              <m:nor/>
                            </m:rPr>
                            <m:t xml:space="preserve">初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=∑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limUpp>
                            <m:e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p</m:t>
                              </m:r>
                            </m:e>
                            <m:lim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→</m:t>
                              </m:r>
                            </m:lim>
                          </m:limUpp>
                        </m:e>
                        <m:sub>
                          <m:r>
                            <m:rPr>
                              <m:nor/>
                            </m:rPr>
                            <m:t xml:space="preserve">末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6" name="Formula 0"/>
              <p:cNvSpPr/>
              <p:nvPr/>
            </p:nvSpPr>
            <p:spPr>
              <a:xfrm>
                <a:off x="731520" y="1783080"/>
                <a:ext cx="27432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7" name="Text 3"/>
          <p:cNvSpPr/>
          <p:nvPr/>
        </p:nvSpPr>
        <p:spPr>
          <a:xfrm>
            <a:off x="548640" y="2468880"/>
            <a:ext cx="384048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D953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思考与引导：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碰撞后，除了动量还有什么保持不变？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为什么台球会反弹，而橡皮泥会粘在一起？</a:t>
            </a:r>
            <a:endParaRPr lang="en-US" sz="1152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71600"/>
            <a:ext cx="3840480" cy="21579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54880" y="3611880"/>
            <a:ext cx="384048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台球碰撞：动能是否在此时发生了损失？</a:t>
            </a:r>
            <a:endParaRPr lang="en-US" sz="1152" dirty="0"/>
          </a:p>
        </p:txBody>
      </p:sp>
      <p:sp>
        <p:nvSpPr>
          <p:cNvPr id="10" name="Shape 5"/>
          <p:cNvSpPr/>
          <p:nvPr/>
        </p:nvSpPr>
        <p:spPr>
          <a:xfrm>
            <a:off x="548640" y="4114800"/>
            <a:ext cx="8046720" cy="731520"/>
          </a:xfrm>
          <a:custGeom>
            <a:avLst/>
            <a:gdLst/>
            <a:ahLst/>
            <a:cxnLst/>
            <a:rect l="l" t="t" r="r" b="b"/>
            <a:pathLst>
              <a:path w="8046720" h="731520">
                <a:moveTo>
                  <a:pt x="0" y="0"/>
                </a:moveTo>
                <a:lnTo>
                  <a:pt x="8046720" y="0"/>
                </a:lnTo>
                <a:lnTo>
                  <a:pt x="8046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11" name="Text 6"/>
          <p:cNvSpPr/>
          <p:nvPr/>
        </p:nvSpPr>
        <p:spPr>
          <a:xfrm>
            <a:off x="731520" y="4242816"/>
            <a:ext cx="76809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C5E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2C5EA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通过对比，掌握动能守恒与不守恒的判定依据。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逻辑起点：动能去哪儿了？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08760"/>
            <a:ext cx="36576" cy="411480"/>
          </a:xfrm>
          <a:custGeom>
            <a:avLst/>
            <a:gdLst/>
            <a:ahLst/>
            <a:cxnLst/>
            <a:rect l="l" t="t" r="r" b="b"/>
            <a:pathLst>
              <a:path w="36576" h="411480">
                <a:moveTo>
                  <a:pt x="0" y="0"/>
                </a:moveTo>
                <a:lnTo>
                  <a:pt x="36576" y="0"/>
                </a:lnTo>
                <a:lnTo>
                  <a:pt x="36576" y="411480"/>
                </a:lnTo>
                <a:lnTo>
                  <a:pt x="0" y="411480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6304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碰撞瞬间，发生了什么？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1965960"/>
            <a:ext cx="36576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当物体发生形变时，动能并没有消失，而是暂时转化为了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弹性势能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36576" cy="411480"/>
          </a:xfrm>
          <a:custGeom>
            <a:avLst/>
            <a:gdLst/>
            <a:ahLst/>
            <a:cxnLst/>
            <a:rect l="l" t="t" r="r" b="b"/>
            <a:pathLst>
              <a:path w="36576" h="411480">
                <a:moveTo>
                  <a:pt x="0" y="0"/>
                </a:moveTo>
                <a:lnTo>
                  <a:pt x="36576" y="0"/>
                </a:lnTo>
                <a:lnTo>
                  <a:pt x="36576" y="411480"/>
                </a:lnTo>
                <a:lnTo>
                  <a:pt x="0" y="411480"/>
                </a:lnTo>
                <a:close/>
              </a:path>
            </a:pathLst>
          </a:custGeom>
          <a:solidFill>
            <a:srgbClr val="ED7D31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83464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C659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什么是弹性碰撞？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731520" y="3337560"/>
            <a:ext cx="36576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定义：在碰撞前后，系统的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总动能保持不变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。这是一种理想化的碰撞模型。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1" name="Formula 0"/>
              <p:cNvSpPr/>
              <p:nvPr/>
            </p:nvSpPr>
            <p:spPr>
              <a:xfrm>
                <a:off x="731520" y="4069080"/>
                <a:ext cx="274320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700"/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∑</m:t>
                      </m:r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E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k1</m:t>
                          </m:r>
                        </m:sub>
                      </m:sSub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=∑</m:t>
                      </m:r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E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k2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" name="Formula 0"/>
              <p:cNvSpPr/>
              <p:nvPr/>
            </p:nvSpPr>
            <p:spPr>
              <a:xfrm>
                <a:off x="731520" y="4069080"/>
                <a:ext cx="274320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554480"/>
            <a:ext cx="3840480" cy="21579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54880" y="3794760"/>
            <a:ext cx="384048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能量转化流程：动能 ⇄ 弹性势能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一维弹性碰撞的数学表达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52144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41148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物理守恒方程组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6" name="Formula 0"/>
              <p:cNvSpPr/>
              <p:nvPr/>
            </p:nvSpPr>
            <p:spPr>
              <a:xfrm>
                <a:off x="731520" y="1965960"/>
                <a:ext cx="43891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sub>
                      </m:sSub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+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sub>
                      </m:sSub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sub>
                      </m:sSub>
                      <m:sSubSup>
                        <m:sSubSup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sub>
                        <m:sup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</m:t>
                          </m:r>
                        </m:sup>
                      </m:sSubSu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+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sub>
                      </m:sSub>
                      <m:sSubSup>
                        <m:sSubSup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sub>
                        <m:sup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6" name="Formula 0"/>
              <p:cNvSpPr/>
              <p:nvPr/>
            </p:nvSpPr>
            <p:spPr>
              <a:xfrm>
                <a:off x="731520" y="1965960"/>
                <a:ext cx="43891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mc:AlternateContent xmlns:mc="http://schemas.openxmlformats.org/markup-compatibility/2006">
        <mc:Choice Requires="a14">
          <p:sp>
            <p:nvSpPr>
              <p:cNvPr id="7" name="Formula 1"/>
              <p:cNvSpPr/>
              <p:nvPr/>
            </p:nvSpPr>
            <p:spPr>
              <a:xfrm>
                <a:off x="731520" y="2606040"/>
                <a:ext cx="457200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700"/>
                </a:pPr>
                <a14:m>
                  <m:oMathPara>
                    <m:oMathParaPr>
                      <m:jc m:val="left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den>
                      </m:f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sub>
                      </m:sSub>
                      <m:sSubSup>
                        <m:sSubSup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sub>
                        <m:sup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p>
                      </m:sSubSu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+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den>
                      </m:f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sub>
                      </m:sSub>
                      <m:sSubSup>
                        <m:sSubSup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sub>
                        <m:sup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p>
                      </m:sSubSu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den>
                      </m:f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sub>
                      </m:sSub>
                      <m:sSubSup>
                        <m:sSubSup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sub>
                        <m:sup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′2</m:t>
                          </m:r>
                        </m:sup>
                      </m:sSubSu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+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den>
                      </m:f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sub>
                      </m:sSub>
                      <m:sSubSup>
                        <m:sSubSup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sub>
                        <m:sup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′2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7" name="Formula 1"/>
              <p:cNvSpPr/>
              <p:nvPr/>
            </p:nvSpPr>
            <p:spPr>
              <a:xfrm>
                <a:off x="731520" y="2606040"/>
                <a:ext cx="457200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8" name="Text 3"/>
          <p:cNvSpPr/>
          <p:nvPr/>
        </p:nvSpPr>
        <p:spPr>
          <a:xfrm>
            <a:off x="5669280" y="1371600"/>
            <a:ext cx="292608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核心挑战</a:t>
            </a:r>
            <a:endParaRPr lang="en-US" sz="1152" dirty="0"/>
          </a:p>
        </p:txBody>
      </p:sp>
      <p:sp>
        <p:nvSpPr>
          <p:cNvPr id="9" name="Text 4"/>
          <p:cNvSpPr/>
          <p:nvPr/>
        </p:nvSpPr>
        <p:spPr>
          <a:xfrm>
            <a:off x="5669280" y="1965960"/>
            <a:ext cx="292608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面对二次方程组，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如何通过代数简化，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高效求出末速度？</a:t>
            </a:r>
            <a:endParaRPr lang="en-US" sz="1152" dirty="0"/>
          </a:p>
        </p:txBody>
      </p:sp>
      <p:sp>
        <p:nvSpPr>
          <p:cNvPr id="10" name="Shape 5"/>
          <p:cNvSpPr/>
          <p:nvPr/>
        </p:nvSpPr>
        <p:spPr>
          <a:xfrm>
            <a:off x="548640" y="3383280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CCCCCC"/>
          </a:solidFill>
          <a:ln/>
        </p:spPr>
      </p:sp>
      <p:sp>
        <p:nvSpPr>
          <p:cNvPr id="11" name="Text 6"/>
          <p:cNvSpPr/>
          <p:nvPr/>
        </p:nvSpPr>
        <p:spPr>
          <a:xfrm>
            <a:off x="548640" y="3566160"/>
            <a:ext cx="80467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代数简化路径</a:t>
            </a:r>
            <a:endParaRPr lang="en-US" sz="1152" dirty="0"/>
          </a:p>
        </p:txBody>
      </p:sp>
      <p:sp>
        <p:nvSpPr>
          <p:cNvPr id="12" name="Text 7"/>
          <p:cNvSpPr/>
          <p:nvPr/>
        </p:nvSpPr>
        <p:spPr>
          <a:xfrm>
            <a:off x="731520" y="4160520"/>
            <a:ext cx="41148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移项：将相同质量项归于等式两侧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分解：利用平方差公式约去二次项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3" name="Formula 2"/>
              <p:cNvSpPr/>
              <p:nvPr/>
            </p:nvSpPr>
            <p:spPr>
              <a:xfrm>
                <a:off x="5029200" y="4160520"/>
                <a:ext cx="356616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centerGroup"/>
                    </m:oMathParaPr>
                    <m:oMath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(</m:t>
                      </m:r>
                      <m:sSubSup>
                        <m:sSubSup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sub>
                        <m:sup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p>
                      </m:sSubSu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−</m:t>
                      </m:r>
                      <m:sSubSup>
                        <m:sSubSup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sub>
                        <m:sup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′2</m:t>
                          </m:r>
                        </m:sup>
                      </m:sSubSu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)=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(</m:t>
                      </m:r>
                      <m:sSubSup>
                        <m:sSubSup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sub>
                        <m:sup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′2</m:t>
                          </m:r>
                        </m:sup>
                      </m:sSubSu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−</m:t>
                      </m:r>
                      <m:sSubSup>
                        <m:sSubSup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sub>
                        <m:sup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p>
                      </m:sSubSu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3" name="Formula 2"/>
              <p:cNvSpPr/>
              <p:nvPr/>
            </p:nvSpPr>
            <p:spPr>
              <a:xfrm>
                <a:off x="5029200" y="4160520"/>
                <a:ext cx="356616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神奇的结论：相对速度关系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914400" y="1188720"/>
            <a:ext cx="7315200" cy="18288"/>
          </a:xfrm>
          <a:custGeom>
            <a:avLst/>
            <a:gdLst/>
            <a:ahLst/>
            <a:cxnLst/>
            <a:rect l="l" t="t" r="r" b="b"/>
            <a:pathLst>
              <a:path w="7315200" h="18288">
                <a:moveTo>
                  <a:pt x="0" y="0"/>
                </a:moveTo>
                <a:lnTo>
                  <a:pt x="7315200" y="0"/>
                </a:lnTo>
                <a:lnTo>
                  <a:pt x="731520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" name="Shape 2"/>
          <p:cNvSpPr/>
          <p:nvPr/>
        </p:nvSpPr>
        <p:spPr>
          <a:xfrm>
            <a:off x="2286000" y="1463040"/>
            <a:ext cx="4572000" cy="1005840"/>
          </a:xfrm>
          <a:custGeom>
            <a:avLst/>
            <a:gdLst/>
            <a:ahLst/>
            <a:cxnLst/>
            <a:rect l="l" t="t" r="r" b="b"/>
            <a:pathLst>
              <a:path w="4572000" h="1005840">
                <a:moveTo>
                  <a:pt x="0" y="0"/>
                </a:moveTo>
                <a:lnTo>
                  <a:pt x="4572000" y="0"/>
                </a:lnTo>
                <a:lnTo>
                  <a:pt x="457200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8FAFC"/>
          </a:solidFill>
          <a:ln/>
        </p:spPr>
      </p:sp>
      <mc:AlternateContent xmlns:mc="http://schemas.openxmlformats.org/markup-compatibility/2006">
        <mc:Choice Requires="a14">
          <p:sp>
            <p:nvSpPr>
              <p:cNvPr id="6" name="Formula 0"/>
              <p:cNvSpPr/>
              <p:nvPr/>
            </p:nvSpPr>
            <p:spPr>
              <a:xfrm>
                <a:off x="2743200" y="1645920"/>
                <a:ext cx="365760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700"/>
                </a:pPr>
                <a14:m>
                  <m:oMathPara>
                    <m:oMathParaPr>
                      <m:jc m:val="centerGroup"/>
                    </m:oMathParaPr>
                    <m:oMath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sub>
                      </m:sSub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−</m:t>
                      </m:r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sub>
                      </m:sSub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sSubSup>
                        <m:sSubSup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sub>
                        <m:sup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</m:t>
                          </m:r>
                        </m:sup>
                      </m:sSubSu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−</m:t>
                      </m:r>
                      <m:sSubSup>
                        <m:sSubSup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sub>
                        <m:sup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6" name="Formula 0"/>
              <p:cNvSpPr/>
              <p:nvPr/>
            </p:nvSpPr>
            <p:spPr>
              <a:xfrm>
                <a:off x="2743200" y="1645920"/>
                <a:ext cx="365760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7" name="Text 3"/>
          <p:cNvSpPr/>
          <p:nvPr/>
        </p:nvSpPr>
        <p:spPr>
          <a:xfrm>
            <a:off x="548640" y="2606040"/>
            <a:ext cx="80467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接近速度 = 远离速度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731520" y="3291840"/>
            <a:ext cx="3749040" cy="1097280"/>
          </a:xfrm>
          <a:custGeom>
            <a:avLst/>
            <a:gdLst/>
            <a:ahLst/>
            <a:cxnLst/>
            <a:rect l="l" t="t" r="r" b="b"/>
            <a:pathLst>
              <a:path w="3749040" h="1097280">
                <a:moveTo>
                  <a:pt x="0" y="0"/>
                </a:moveTo>
                <a:lnTo>
                  <a:pt x="3749040" y="0"/>
                </a:lnTo>
                <a:lnTo>
                  <a:pt x="374904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FEE2E2"/>
          </a:solidFill>
          <a:ln/>
        </p:spPr>
      </p:sp>
      <p:sp>
        <p:nvSpPr>
          <p:cNvPr id="9" name="Text 5"/>
          <p:cNvSpPr/>
          <p:nvPr/>
        </p:nvSpPr>
        <p:spPr>
          <a:xfrm>
            <a:off x="960120" y="3493008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传统路径：动能方程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二次项方程，计算冗长且易错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4663440" y="3291840"/>
            <a:ext cx="3749040" cy="1097280"/>
          </a:xfrm>
          <a:custGeom>
            <a:avLst/>
            <a:gdLst/>
            <a:ahLst/>
            <a:cxnLst/>
            <a:rect l="l" t="t" r="r" b="b"/>
            <a:pathLst>
              <a:path w="3749040" h="1097280">
                <a:moveTo>
                  <a:pt x="0" y="0"/>
                </a:moveTo>
                <a:lnTo>
                  <a:pt x="3749040" y="0"/>
                </a:lnTo>
                <a:lnTo>
                  <a:pt x="374904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11" name="Text 7"/>
          <p:cNvSpPr/>
          <p:nvPr/>
        </p:nvSpPr>
        <p:spPr>
          <a:xfrm>
            <a:off x="4892040" y="3493008"/>
            <a:ext cx="32918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高效路径：速度关系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一次线性方程，降次化简效率极高</a:t>
            </a:r>
            <a:endParaRPr lang="en-US" sz="1152" dirty="0"/>
          </a:p>
        </p:txBody>
      </p:sp>
      <p:sp>
        <p:nvSpPr>
          <p:cNvPr id="12" name="Text 8"/>
          <p:cNvSpPr/>
          <p:nvPr/>
        </p:nvSpPr>
        <p:spPr>
          <a:xfrm>
            <a:off x="548640" y="4572000"/>
            <a:ext cx="8046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思考：在解决多过程碰撞问题时，哪种方法能让你保持头脑清醒？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特殊情况一：等质量碰撞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3474720" cy="36576"/>
          </a:xfrm>
          <a:custGeom>
            <a:avLst/>
            <a:gdLst/>
            <a:ahLst/>
            <a:cxnLst/>
            <a:rect l="l" t="t" r="r" b="b"/>
            <a:pathLst>
              <a:path w="3474720" h="36576">
                <a:moveTo>
                  <a:pt x="0" y="0"/>
                </a:moveTo>
                <a:lnTo>
                  <a:pt x="3474720" y="0"/>
                </a:lnTo>
                <a:lnTo>
                  <a:pt x="34747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371600"/>
            <a:ext cx="3840480" cy="2103120"/>
          </a:xfrm>
          <a:custGeom>
            <a:avLst/>
            <a:gdLst/>
            <a:ahLst/>
            <a:cxnLst/>
            <a:rect l="l" t="t" r="r" b="b"/>
            <a:pathLst>
              <a:path w="3840480" h="2103120">
                <a:moveTo>
                  <a:pt x="0" y="0"/>
                </a:moveTo>
                <a:lnTo>
                  <a:pt x="3840480" y="0"/>
                </a:lnTo>
                <a:lnTo>
                  <a:pt x="384048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700784"/>
            <a:ext cx="3474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当两物体质量相等时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7" name="Formula 0"/>
              <p:cNvSpPr/>
              <p:nvPr/>
            </p:nvSpPr>
            <p:spPr>
              <a:xfrm>
                <a:off x="731520" y="2148840"/>
                <a:ext cx="34747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centerGroup"/>
                    </m:oMathParaPr>
                    <m:oMath>
                      <m:sSubSup>
                        <m:sSubSup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sub>
                        <m:sup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</m:t>
                          </m:r>
                        </m:sup>
                      </m:sSubSu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,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sSubSup>
                        <m:sSubSup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sub>
                        <m:sup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</m:t>
                          </m:r>
                        </m:sup>
                      </m:sSubSu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7" name="Formula 0"/>
              <p:cNvSpPr/>
              <p:nvPr/>
            </p:nvSpPr>
            <p:spPr>
              <a:xfrm>
                <a:off x="731520" y="2148840"/>
                <a:ext cx="34747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8" name="Text 4"/>
          <p:cNvSpPr/>
          <p:nvPr/>
        </p:nvSpPr>
        <p:spPr>
          <a:xfrm>
            <a:off x="731520" y="2697480"/>
            <a:ext cx="34747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物理现象：速度大交换</a:t>
            </a:r>
            <a:endParaRPr lang="en-US" sz="1152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754880" y="1371600"/>
            <a:ext cx="3749040" cy="21031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3657600"/>
            <a:ext cx="8046720" cy="1005840"/>
          </a:xfrm>
          <a:custGeom>
            <a:avLst/>
            <a:gdLst/>
            <a:ahLst/>
            <a:cxnLst/>
            <a:rect l="l" t="t" r="r" b="b"/>
            <a:pathLst>
              <a:path w="8046720" h="1005840">
                <a:moveTo>
                  <a:pt x="0" y="0"/>
                </a:moveTo>
                <a:lnTo>
                  <a:pt x="8046720" y="0"/>
                </a:lnTo>
                <a:lnTo>
                  <a:pt x="8046720" y="1005840"/>
                </a:lnTo>
                <a:lnTo>
                  <a:pt x="0" y="1005840"/>
                </a:lnTo>
                <a:close/>
              </a:path>
            </a:pathLst>
          </a:custGeom>
          <a:solidFill>
            <a:srgbClr val="FFFAF0"/>
          </a:solidFill>
          <a:ln/>
        </p:spPr>
      </p:sp>
      <p:sp>
        <p:nvSpPr>
          <p:cNvPr id="11" name="Text 6"/>
          <p:cNvSpPr/>
          <p:nvPr/>
        </p:nvSpPr>
        <p:spPr>
          <a:xfrm>
            <a:off x="731520" y="3813048"/>
            <a:ext cx="76809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7442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台球实例：定杆 (Stop Shot)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442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母球正碰静止目标球，母球完全停下，目标球获得全部速度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特殊情况二：轻重悬殊的碰撞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3474720" cy="36576"/>
          </a:xfrm>
          <a:custGeom>
            <a:avLst/>
            <a:gdLst/>
            <a:ahLst/>
            <a:cxnLst/>
            <a:rect l="l" t="t" r="r" b="b"/>
            <a:pathLst>
              <a:path w="3474720" h="36576">
                <a:moveTo>
                  <a:pt x="0" y="0"/>
                </a:moveTo>
                <a:lnTo>
                  <a:pt x="3474720" y="0"/>
                </a:lnTo>
                <a:lnTo>
                  <a:pt x="34747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206240" cy="23682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3931920"/>
            <a:ext cx="42062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模型：质子碰撞静止氦核 (质量比约 1:4)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5029200" y="1463040"/>
            <a:ext cx="3566160" cy="2377440"/>
          </a:xfrm>
          <a:custGeom>
            <a:avLst/>
            <a:gdLst/>
            <a:ahLst/>
            <a:cxnLst/>
            <a:rect l="l" t="t" r="r" b="b"/>
            <a:pathLst>
              <a:path w="3566160" h="2377440">
                <a:moveTo>
                  <a:pt x="0" y="0"/>
                </a:moveTo>
                <a:lnTo>
                  <a:pt x="3566160" y="0"/>
                </a:lnTo>
                <a:lnTo>
                  <a:pt x="3566160" y="2377440"/>
                </a:lnTo>
                <a:lnTo>
                  <a:pt x="0" y="237744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8" name="Text 4"/>
          <p:cNvSpPr/>
          <p:nvPr/>
        </p:nvSpPr>
        <p:spPr>
          <a:xfrm>
            <a:off x="5212080" y="1645920"/>
            <a:ext cx="320040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结果预测：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较轻物体撞击较重物体会反向吗？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较重物体获得的动量大小？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9" name="Formula 0"/>
              <p:cNvSpPr/>
              <p:nvPr/>
            </p:nvSpPr>
            <p:spPr>
              <a:xfrm>
                <a:off x="5212080" y="2560320"/>
                <a:ext cx="292608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700"/>
                </a:pPr>
                <a14:m>
                  <m:oMathPara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sub>
                        <m:sup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</m:t>
                          </m:r>
                        </m:sup>
                      </m:sSubSu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sSub>
                            <m:sSubPr>
                              <m:ctrlP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m</m:t>
                              </m:r>
                            </m:e>
                            <m:sub>
                              <m: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1</m:t>
                              </m:r>
                            </m:sub>
                          </m:s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−</m:t>
                          </m:r>
                          <m:sSub>
                            <m:sSubPr>
                              <m:ctrlP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m</m:t>
                              </m:r>
                            </m:e>
                            <m:sub>
                              <m: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m</m:t>
                              </m:r>
                            </m:e>
                            <m:sub>
                              <m: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1</m:t>
                              </m:r>
                            </m:sub>
                          </m:s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+</m:t>
                          </m:r>
                          <m:sSub>
                            <m:sSubPr>
                              <m:ctrlP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m</m:t>
                              </m:r>
                            </m:e>
                            <m:sub>
                              <m: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&lt;0</m:t>
                      </m:r>
                      <m:r>
                        <m:rPr>
                          <m:nor/>
                        </m:rPr>
                        <m:t xml:space="preserve">(反向弹回)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" name="Formula 0"/>
              <p:cNvSpPr/>
              <p:nvPr/>
            </p:nvSpPr>
            <p:spPr>
              <a:xfrm>
                <a:off x="5212080" y="2560320"/>
                <a:ext cx="292608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mc:AlternateContent xmlns:mc="http://schemas.openxmlformats.org/markup-compatibility/2006">
        <mc:Choice Requires="a14">
          <p:sp>
            <p:nvSpPr>
              <p:cNvPr id="10" name="Formula 1"/>
              <p:cNvSpPr/>
              <p:nvPr/>
            </p:nvSpPr>
            <p:spPr>
              <a:xfrm>
                <a:off x="5212080" y="3246120"/>
                <a:ext cx="292608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700"/>
                </a:pPr>
                <a14:m>
                  <m:oMathPara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b>
                        <m:sup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</m:t>
                          </m:r>
                        </m:sup>
                      </m:sSubSu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  <m:sSub>
                            <m:sSubPr>
                              <m:ctrlP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m</m:t>
                              </m:r>
                            </m:e>
                            <m:sub>
                              <m: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m</m:t>
                              </m:r>
                            </m:e>
                            <m:sub>
                              <m: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1</m:t>
                              </m:r>
                            </m:sub>
                          </m:s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+</m:t>
                          </m:r>
                          <m:sSub>
                            <m:sSubPr>
                              <m:ctrlP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m</m:t>
                              </m:r>
                            </m:e>
                            <m:sub>
                              <m:r>
                                <a:rPr lang="en-US" i="1" sz="17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&gt;0</m:t>
                      </m:r>
                      <m:r>
                        <m:rPr>
                          <m:nor/>
                        </m:rPr>
                        <m:t xml:space="preserve">(向前运动)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Formula 1"/>
              <p:cNvSpPr/>
              <p:nvPr/>
            </p:nvSpPr>
            <p:spPr>
              <a:xfrm>
                <a:off x="5212080" y="3246120"/>
                <a:ext cx="292608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1" name="Shape 5"/>
          <p:cNvSpPr/>
          <p:nvPr/>
        </p:nvSpPr>
        <p:spPr>
          <a:xfrm>
            <a:off x="548640" y="4434840"/>
            <a:ext cx="8046720" cy="475488"/>
          </a:xfrm>
          <a:custGeom>
            <a:avLst/>
            <a:gdLst/>
            <a:ahLst/>
            <a:cxnLst/>
            <a:rect l="l" t="t" r="r" b="b"/>
            <a:pathLst>
              <a:path w="8046720" h="475488">
                <a:moveTo>
                  <a:pt x="0" y="0"/>
                </a:moveTo>
                <a:lnTo>
                  <a:pt x="8046720" y="0"/>
                </a:lnTo>
                <a:lnTo>
                  <a:pt x="8046720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EBF8FF"/>
          </a:solidFill>
          <a:ln/>
        </p:spPr>
      </p:sp>
      <p:sp>
        <p:nvSpPr>
          <p:cNvPr id="12" name="Text 6"/>
          <p:cNvSpPr/>
          <p:nvPr/>
        </p:nvSpPr>
        <p:spPr>
          <a:xfrm>
            <a:off x="731520" y="4434840"/>
            <a:ext cx="76809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引申思考：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如果质量比趋于无穷（如乒乓球撞墙），速度变化满足什么规律？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非弹性碰撞：动能的流失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54480"/>
            <a:ext cx="36576" cy="685800"/>
          </a:xfrm>
          <a:custGeom>
            <a:avLst/>
            <a:gdLst/>
            <a:ahLst/>
            <a:cxnLst/>
            <a:rect l="l" t="t" r="r" b="b"/>
            <a:pathLst>
              <a:path w="36576" h="685800">
                <a:moveTo>
                  <a:pt x="0" y="0"/>
                </a:moveTo>
                <a:lnTo>
                  <a:pt x="36576" y="0"/>
                </a:lnTo>
                <a:lnTo>
                  <a:pt x="36576" y="685800"/>
                </a:lnTo>
                <a:lnTo>
                  <a:pt x="0" y="685800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63040"/>
            <a:ext cx="365760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定义：动能不守恒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碰撞后系统总动能减少的现象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2560320"/>
            <a:ext cx="3657600" cy="1517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能量的转化去向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转化为内能（产生热量）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转化为声能（碰撞声响）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产生永久形变（结构损伤）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754880" y="1463040"/>
            <a:ext cx="3840480" cy="1371600"/>
          </a:xfrm>
          <a:custGeom>
            <a:avLst/>
            <a:gdLst/>
            <a:ahLst/>
            <a:cxnLst/>
            <a:rect l="l" t="t" r="r" b="b"/>
            <a:pathLst>
              <a:path w="3840480" h="1371600">
                <a:moveTo>
                  <a:pt x="0" y="0"/>
                </a:moveTo>
                <a:lnTo>
                  <a:pt x="3840480" y="0"/>
                </a:lnTo>
                <a:lnTo>
                  <a:pt x="3840480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F2F7FB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1636776"/>
            <a:ext cx="347472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核心守恒原则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总动量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始终守恒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总能量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始终守恒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（包含热/声能）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4754880" y="3017520"/>
            <a:ext cx="3840480" cy="1645920"/>
          </a:xfrm>
          <a:custGeom>
            <a:avLst/>
            <a:gdLst/>
            <a:ahLst/>
            <a:cxnLst/>
            <a:rect l="l" t="t" r="r" b="b"/>
            <a:pathLst>
              <a:path w="3840480" h="1645920">
                <a:moveTo>
                  <a:pt x="0" y="0"/>
                </a:moveTo>
                <a:lnTo>
                  <a:pt x="3840480" y="0"/>
                </a:lnTo>
                <a:lnTo>
                  <a:pt x="3840480" y="1645920"/>
                </a:lnTo>
                <a:lnTo>
                  <a:pt x="0" y="1645920"/>
                </a:ln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3154680"/>
            <a:ext cx="347472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完全非弹性碰撞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特征：碰后合为一体，共速运动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损失：系统动能损失达到最大值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2" name="Formula 0"/>
              <p:cNvSpPr/>
              <p:nvPr/>
            </p:nvSpPr>
            <p:spPr>
              <a:xfrm>
                <a:off x="5120640" y="4160520"/>
                <a:ext cx="3108960" cy="4114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100"/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sub>
                      </m:sSub>
                      <m:sSub>
                        <m:sSubPr>
                          <m:ctrlP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z="11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+</m:t>
                      </m:r>
                      <m:sSub>
                        <m:sSubPr>
                          <m:ctrlP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b>
                      </m:sSub>
                      <m:sSub>
                        <m:sSubPr>
                          <m:ctrlP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z="11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=(</m:t>
                      </m:r>
                      <m:sSub>
                        <m:sSubPr>
                          <m:ctrlP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z="11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+</m:t>
                      </m:r>
                      <m:sSub>
                        <m:sSubPr>
                          <m:ctrlP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</m:t>
                          </m:r>
                        </m:e>
                        <m:sub>
                          <m: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b>
                      </m:sSub>
                      <m:r>
                        <a:rPr lang="en-US" i="1" sz="11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)</m:t>
                      </m:r>
                      <m:sSub>
                        <m:sSubPr>
                          <m:ctrlP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1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m:rPr>
                              <m:nor/>
                            </m:rPr>
                            <m:t xml:space="preserve">共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" name="Formula 0"/>
              <p:cNvSpPr/>
              <p:nvPr/>
            </p:nvSpPr>
            <p:spPr>
              <a:xfrm>
                <a:off x="5120640" y="4160520"/>
                <a:ext cx="3108960" cy="4114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 standalone="yes"?>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<p:cSld name="Slide 8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3" name="Text 0"></p:cNvPr><p:cNvSpPr/><p:nvPr></p:nvPr></p:nvSpPr><p:spPr><a:xfrm><a:off x="548640" y="457200"/><a:ext cx="8046720" cy="640080"/></a:xfrm><a:prstGeom prst="rect"><a:avLst></a:avLst></a:prstGeom><a:noFill/><a:ln></a:ln></p:spPr><p:txBody><a:bodyPr wrap="square" lIns="91440" tIns="91440" rIns="91440" bIns="91440" rtlCol="0" anchor="t"><a:spAutoFit/></a:bodyPr><a:lstStyle/><a:p><a:pPr indent="0" marL="0"><a:lnSpc><a:spcPct val="120000"/></a:lnSpc><a:spcBef><a:spcPts val="360"/></a:spcBef><a:buNone/></a:pPr><a:r><a:rPr lang="en-US" sz="2304" b="1" dirty="0"><a:solidFill><a:srgbClr val="1A365D"/></a:solidFill><a:latin typeface="Microsoft YaHei" pitchFamily="34" charset="0"/><a:ea typeface="Microsoft YaHei" pitchFamily="34" charset="-122"/><a:cs typeface="Microsoft YaHei" pitchFamily="34" charset="-120"/></a:rPr><a:t>实例分析：铁路货车的耦合过程</a:t></a:r><a:endParaRPr lang="en-US" sz="1152" dirty="0"/></a:p></p:txBody></p:sp><p:sp><p:nvSpPr><p:cNvPr id="4" name="Shape 1"></p:cNvPr><p:cNvSpPr/><p:nvPr></p:nvPr></p:nvSpPr><p:spPr><a:xfrm><a:off x="548640" y="1143000"/><a:ext cx="8046720" cy="27432"/></a:xfrm><a:custGeom><a:avLst /><a:gdLst></a:gdLst><a:ahLst /><a:cxnLst></a:cxnLst><a:rect l="l" t="t" r="r" b="b" /><a:pathLst><a:path w="8046720" h="27432"><a:moveTo><a:pt x="0" y="0" /></a:moveTo><a:lnTo><a:pt x="8046720" y="0" /></a:lnTo><a:lnTo><a:pt x="8046720" y="27432" /></a:lnTo><a:lnTo><a:pt x="0" y="27432" /></a:lnTo><a:close /></a:path></a:pathLst></a:custGeom><a:solidFill><a:srgbClr val="3182CE"/></a:solidFill><a:ln></a:ln></p:spPr></p:sp><p:sp><p:nvSpPr><p:cNvPr id="5" name="Shape 2"></p:cNvPr><p:cNvSpPr/><p:nvPr></p:nvPr></p:nvSpPr><p:spPr><a:xfrm><a:off x="548640" y="1463040"/><a:ext cx="3931920" cy="3291840"/></a:xfrm><a:custGeom><a:avLst /><a:gdLst></a:gdLst><a:ahLst /><a:cxnLst></a:cxnLst><a:rect l="l" t="t" r="r" b="b" /><a:pathLst><a:path w="3931920" h="3291840"><a:moveTo><a:pt x="0" y="0" /></a:moveTo><a:lnTo><a:pt x="3931920" y="0" /></a:lnTo><a:lnTo><a:pt x="3931920" y="3291840" /></a:lnTo><a:lnTo><a:pt x="0" y="3291840" /></a:lnTo><a:close /></a:path></a:pathLst></a:custGeom><a:solidFill><a:srgbClr val="F7FAFC"/></a:solidFill><a:ln></a:ln></p:spPr></p:sp><p:sp><p:nvSpPr><p:cNvPr id="6" name="Shape 3"></p:cNvPr><p:cNvSpPr/><p:nvPr></p:nvPr></p:nvSpPr><p:spPr><a:xfrm><a:off x="4663440" y="1463040"/><a:ext cx="3931920" cy="3291840"/></a:xfrm><a:custGeom><a:avLst /><a:gdLst></a:gdLst><a:ahLst /><a:cxnLst></a:cxnLst><a:rect l="l" t="t" r="r" b="b" /><a:pathLst><a:path w="3931920" h="3291840"><a:moveTo><a:pt x="0" y="0" /></a:moveTo><a:lnTo><a:pt x="3931920" y="0" /></a:lnTo><a:lnTo><a:pt x="3931920" y="3291840" /></a:lnTo><a:lnTo><a:pt x="0" y="3291840" /></a:lnTo><a:close /></a:path></a:pathLst></a:custGeom><a:solidFill><a:srgbClr val="FFFAF0"/></a:solidFill><a:ln></a:ln></p:spPr></p:sp><p:sp><p:nvSpPr><p:cNvPr id="7" name="Text 4"></p:cNvPr><p:cNvSpPr/><p:nvPr></p:nvPr></p:nvSpPr><p:spPr><a:xfrm><a:off x="731520" y="1645920"/><a:ext cx="3566160" cy="475488"/></a:xfrm><a:prstGeom prst="rect"><a:avLst></a:avLst></a:prstGeom><a:noFill/><a:ln></a:ln></p:spPr><p:txBody><a:bodyPr wrap="square" lIns="91440" tIns="91440" rIns="91440" bIns="91440" rtlCol="0" anchor="t"><a:spAutoFit/></a:bodyPr><a:lstStyle/><a:p><a:pPr indent="0" marL="0"><a:lnSpc><a:spcPct val="120000"/></a:lnSpc><a:spcBef><a:spcPts val="360"/></a:spcBef><a:buNone/></a:pPr><a:r><a:rPr lang="en-US" sz="1440" b="1" dirty="0"><a:solidFill><a:srgbClr val="2D3748"/></a:solidFill><a:latin typeface="Microsoft YaHei" pitchFamily="34" charset="0"/><a:ea typeface="Microsoft YaHei" pitchFamily="34" charset="-122"/><a:cs typeface="Microsoft YaHei" pitchFamily="34" charset="-120"/></a:rPr><a:t>1. 动量守恒与速度计算</a:t></a:r><a:endParaRPr lang="en-US" sz="1152" dirty="0"/></a:p></p:txBody></p:sp><p:sp><p:nvSpPr><p:cNvPr id="8" name="Text 5"></p:cNvPr><p:cNvSpPr/><p:nvPr></p:nvPr></p:nvSpPr><p:spPr><a:xfrm><a:off x="731520" y="2148840"/><a:ext cx="3566160" cy="749808"/></a:xfrm><a:prstGeom prst="rect"><a:avLst></a:avLst></a:prstGeom><a:noFill/><a:ln></a:ln></p:spPr><p:txBody><a:bodyPr wrap="square" lIns="91440" tIns="91440" rIns="91440" bIns="91440" rtlCol="0" anchor="t"><a:spAutoFit/></a:bodyPr><a:lstStyle/><a:p><a:pPr indent="0" marL="0"><a:lnSpc><a:spcPct val="120000"/></a:lnSpc><a:spcBef><a:spcPts val="360"/></a:spcBef><a:buNone/></a:pPr><a:r><a:rPr lang="en-US" sz="1296" dirty="0"><a:solidFill><a:srgbClr val="4A5568"/></a:solidFill><a:latin typeface="Microsoft YaHei" pitchFamily="34" charset="0"/><a:ea typeface="Microsoft YaHei" pitchFamily="34" charset="-122"/><a:cs typeface="Microsoft YaHei" pitchFamily="34" charset="-120"/></a:rPr><a:t>场景：质量均为 20,000kg 的货车碰撞并耦合（完全非弹性碰撞）。</a:t></a:r><a:endParaRPr lang="en-US" sz="1152" dirty="0"/></a:p></p:txBody></p:sp><mc:AlternateContent xmlns:mc="http://schemas.openxmlformats.org/markup-compatibility/2006"><mc:Choice Requires="a14"><p:sp> <p:nvSpPr>  <p:cNvPr id="9" name="Formula 0"/>  <p:cNvSpPr/>  <p:nvPr/> </p:nvSpPr> <p:spPr>  <a:xfrm><a:off x="731520" y="2926080"/><a:ext cx="3566160" cy="731520"/></a:xfrm>  <a:prstGeom prst="rect"><a:avLst/></a:prstGeom> </p:spPr> <p:txBody>  <a:bodyPr wrap="square" rtlCol="0"><a:spAutoFit/></a:bodyPr>  <a:lstStyle/>  <a:p>   <a:pPr><a:defRPr sz="1000"/></a:pPr>   <a14:m>    <m:oMathPara>     <m:oMathParaPr><m:jc m:val="left"/></m:oMathParaPr>     <m:oMath><m:m><m:mPr><m:baseJc m:val="center"/><m:plcHide m:val="on"/><m:mcs><m:mc><m:mcPr><m:count m:val="1"/><m:mcJc m:val="center"/></m:mcPr></m:mc></m:mcs></m:mPr><m:mr><m:e><m:r><a:rPr lang="en-US" i="1" sz="1000"><a:latin typeface="Cambria Math" panose="02040503050406030204" charset="0"/><a:cs typeface="Cambria Math" panose="02040503050406030204" charset="0"/></a:rPr><m:t xml:space="preserve">m</m:t></m:r><m:sSub><m:sSubPr><m:ctrlPr><a:rPr lang="en-US" i="1" sz="1000"><a:latin typeface="Cambria Math" panose="02040503050406030204" charset="0"/><a:cs typeface="Cambria Math" panose="02040503050406030204" charset="0"/></a:rPr></m:ctrlPr></m:sSubPr><m:e><m:r><a:rPr lang="en-US" i="1" sz="1000"><a:latin typeface="Cambria Math" panose="02040503050406030204" charset="0"/><a:cs typeface="Cambria Math" panose="02040503050406030204" charset="0"/></a:rPr><m:t xml:space="preserve">v</m:t></m:r></m:e><m:sub><m:r><a:rPr lang="en-US" i="1" sz="1000"><a:latin typeface="Cambria Math" panose="02040503050406030204" charset="0"/><a:cs typeface="Cambria Math" panose="02040503050406030204" charset="0"/></a:rPr><m:t xml:space="preserve">1</m:t></m:r></m:sub></m:sSub><m:r><a:rPr lang="en-US" i="1" sz="1000"><a:latin typeface="Cambria Math" panose="02040503050406030204" charset="0"/><a:cs typeface="Cambria Math" panose="02040503050406030204" charset="0"/></a:rPr><m:t xml:space="preserve">+m(0)=(m+m)</m:t></m:r><m:sSub><m:sSubPr><m:ctrlPr><a:rPr lang="en-US" i="1" sz="1000"><a:latin typeface="Cambria Math" panose="02040503050406030204" charset="0"/><a:cs typeface="Cambria Math" panose="02040503050406030204" charset="0"/></a:rPr></m:ctrlPr></m:sSubPr><m:e><m:r><a:rPr lang="en-US" i="1" sz="1000"><a:latin typeface="Cambria Math" panose="02040503050406030204" charset="0"/><a:cs typeface="Cambria Math" panose="02040503050406030204" charset="0"/></a:rPr><m:t xml:space="preserve">v</m:t></m:r></m:e><m:sub><m:r><a:rPr lang="en-US" i="1" sz="1000"><a:latin typeface="Cambria Math" panose="02040503050406030204" charset="0"/><a:cs typeface="Cambria Math" panose="02040503050406030204" charset="0"/></a:rPr><m:t xml:space="preserve">f</m:t></m:r></m:sub></m:sSub><m:r><a:rPr lang="en-US" i="1" sz="1000"><a:latin typeface="Cambria Math" panose="02040503050406030204" charset="0"/><a:cs typeface="Cambria Math" panose="02040503050406030204" charset="0"/></a:rPr><m:t xml:space="preserve"></m:t></m:r></m:e></m:mr><m:mr><m:e><m:sSub><m:sSubPr><m:ctrlPr><a:rPr lang="en-US" i="1" sz="1000"><a:latin typeface="Cambria Math" panose="02040503050406030204" charset="0"/><a:cs typeface="Cambria Math" panose="02040503050406030204" charset="0"/></a:rPr></m:ctrlPr></m:sSubPr><m:e><m:r><a:rPr lang="en-US" i="1" sz="1000"><a:latin typeface="Cambria Math" panose="02040503050406030204" charset="0"/><a:cs typeface="Cambria Math" panose="02040503050406030204" charset="0"/></a:rPr><m:t xml:space="preserve">v</m:t></m:r></m:e><m:sub><m:r><a:rPr lang="en-US" i="1" sz="1000"><a:latin typeface="Cambria Math" panose="02040503050406030204" charset="0"/><a:cs typeface="Cambria Math" panose="02040503050406030204" charset="0"/></a:rPr><m:t xml:space="preserve">f</m:t></m:r></m:sub></m:sSub><m:r><a:rPr lang="en-US" i="1" sz="1000"><a:latin typeface="Cambria Math" panose="02040503050406030204" charset="0"/><a:cs typeface="Cambria Math" panose="02040503050406030204" charset="0"/></a:rPr><m:t xml:space="preserve">=</m:t></m:r><m:f><m:fPr><m:type m:val="bar"/></m:fPr><m:num><m:r><a:rPr lang="en-US" i="1" sz="1000"><a:latin typeface="Cambria Math" panose="02040503050406030204" charset="0"/><a:cs typeface="Cambria Math" panose="02040503050406030204" charset="0"/></a:rPr><m:t xml:space="preserve">1</m:t></m:r></m:num><m:den><m:r><a:rPr lang="en-US" i="1" sz="1000"><a:latin typeface="Cambria Math" panose="02040503050406030204" charset="0"/><a:cs typeface="Cambria Math" panose="02040503050406030204" charset="0"/></a:rPr><m:t xml:space="preserve">2</m:t></m:r></m:den></m:f><m:sSub><m:sSubPr><m:ctrlPr><a:rPr lang="en-US" i="1" sz="1000"><a:latin typeface="Cambria Math" panose="02040503050406030204" charset="0"/><a:cs typeface="Cambria Math" panose="02040503050406030204" charset="0"/></a:rPr></m:ctrlPr></m:sSubPr><m:e><m:r><a:rPr lang="en-US" i="1" sz="1000"><a:latin typeface="Cambria Math" panose="02040503050406030204" charset="0"/><a:cs typeface="Cambria Math" panose="02040503050406030204" charset="0"/></a:rPr><m:t xml:space="preserve">v</m:t></m:r></m:e><m:sub><m:r><a:rPr lang="en-US" i="1" sz="1000"><a:latin typeface="Cambria Math" panose="02040503050406030204" charset="0"/><a:cs typeface="Cambria Math" panose="02040503050406030204" charset="0"/></a:rPr><m:t xml:space="preserve">1</m:t></m:r></m:sub></m:sSub></m:e></m:mr></m:m></m:oMath>    </m:oMathPara>   </a14:m>  </a:p> </p:txBody></p:sp></mc:Choice><mc:Fallback><p:sp> <p:nvSpPr>  <p:cNvPr id="9" name="Formula 0"/>  <p:cNvSpPr/>  <p:nvPr/> </p:nvSpPr> <p:spPr>  <a:xfrm><a:off x="731520" y="2926080"/><a:ext cx="3566160" cy="731520"/></a:xfrm>  <a:prstGeom prst="rect"><a:avLst/></a:prstGeom> </p:spPr> <p:txBody>  <a:bodyPr wrap="square" rtlCol="0"><a:spAutoFit/></a:bodyPr>  <a:lstStyle/>  <a:p><a:r><a:rPr lang="en-US" dirty="0"/><a:t>[Formula]</a:t></a:r></a:p> </p:txBody></p:sp></mc:Fallback></mc:AlternateContent><p:sp><p:nvSpPr><p:cNvPr id="10" name="Text 6"></p:cNvPr><p:cNvSpPr/><p:nvPr></p:nvPr></p:nvSpPr><p:spPr><a:xfrm><a:off x="4846320" y="1645920"/><a:ext cx="3566160" cy="475488"/></a:xfrm><a:prstGeom prst="rect"><a:avLst></a:avLst></a:prstGeom><a:noFill/><a:ln></a:ln></p:spPr><p:txBody><a:bodyPr wrap="square" lIns="91440" tIns="91440" rIns="91440" bIns="91440" rtlCol="0" anchor="t"><a:spAutoFit/></a:bodyPr><a:lstStyle/><a:p><a:pPr indent="0" marL="0"><a:lnSpc><a:spcPct val="120000"/></a:lnSpc><a:spcBef><a:spcPts val="360"/></a:spcBef><a:buNone/></a:pPr><a:r><a:rPr lang="en-US" sz="1440" b="1" dirty="0"><a:solidFill><a:srgbClr val="2D3748"/></a:solidFill><a:latin typeface="Microsoft YaHei" pitchFamily="34" charset="0"/><a:ea typeface="Microsoft YaHei" pitchFamily="34" charset="-122"/><a:cs typeface="Microsoft YaHei" pitchFamily="34" charset="-120"/></a:rPr><a:t>2. 动能损耗与转化</a:t></a:r><a:endParaRPr lang="en-US" sz="1152" dirty="0"/></a:p></p:txBody></p:sp><mc:AlternateContent xmlns:mc="http://schemas.openxmlformats.org/markup-compatibility/2006"><mc:Choice Requires="a14"><p:sp> <p:nvSpPr>  <p:cNvPr id="11" name="Formula 1"/>  <p:cNvSpPr/>  <p:nvPr/> </p:nvSpPr> <p:spPr>  <a:xfrm><a:off x="4846320" y="2194560"/><a:ext cx="3566160" cy="822960"/></a:xfrm>  <a:prstGeom prst="rect"><a:avLst/></a:prstGeom> </p:spPr> <p:txBody>  <a:bodyPr wrap="square" rtlCol="0"><a:spAutoFit/></a:bodyPr>  <a:lstStyle/>  <a:p>   <a:pPr><a:defRPr sz="1100"/></a:pPr>   <a14:m>    <m:oMathPara>     <m:oMathParaPr><m:jc m:val="left"/></m:oMathParaPr>     <m:oMath><m:m><m:mPr><m:baseJc m:val="center"/><m:plcHide m:val="on"/><m:mcs><m:mc><m:mcPr><m:count m:val="1"/><m:mcJc m:val="center"/></m:mcPr></m:mc></m:mcs></m:mPr><m:mr><m:e><m:r><w:rPr/><m:rPr><m:nor/><m:sty m:val="undefined"/></m:rPr><m:t xml:space="preserve">Δ</m:t></m:r><m:sSub><m:sSubPr><m:ctrlPr><a:rPr lang="en-US" i="1" sz="1100"><a:latin typeface="Cambria Math" panose="02040503050406030204" charset="0"/><a:cs typeface="Cambria Math" panose="02040503050406030204" charset="0"/></a:rPr></m:ctrlPr></m:sSubPr><m:e><m:r><a:rPr lang="en-US" i="1" sz="1100"><a:latin typeface="Cambria Math" panose="02040503050406030204" charset="0"/><a:cs typeface="Cambria Math" panose="02040503050406030204" charset="0"/></a:rPr><m:t xml:space="preserve">E</m:t></m:r></m:e><m:sub><m:r><a:rPr lang="en-US" i="1" sz="1100"><a:latin typeface="Cambria Math" panose="02040503050406030204" charset="0"/><a:cs typeface="Cambria Math" panose="02040503050406030204" charset="0"/></a:rPr><m:t xml:space="preserve">k</m:t></m:r></m:sub></m:sSub><m:r><a:rPr lang="en-US" i="1" sz="1100"><a:latin typeface="Cambria Math" panose="02040503050406030204" charset="0"/><a:cs typeface="Cambria Math" panose="02040503050406030204" charset="0"/></a:rPr><m:t xml:space="preserve">=</m:t></m:r><m:sSub><m:sSubPr><m:ctrlPr><a:rPr lang="en-US" i="1" sz="1100"><a:latin typeface="Cambria Math" panose="02040503050406030204" charset="0"/><a:cs typeface="Cambria Math" panose="02040503050406030204" charset="0"/></a:rPr></m:ctrlPr></m:sSubPr><m:e><m:r><a:rPr lang="en-US" i="1" sz="1100"><a:latin typeface="Cambria Math" panose="02040503050406030204" charset="0"/><a:cs typeface="Cambria Math" panose="02040503050406030204" charset="0"/></a:rPr><m:t xml:space="preserve">E</m:t></m:r></m:e><m:sub><m:r><a:rPr lang="en-US" i="1" sz="1100"><a:latin typeface="Cambria Math" panose="02040503050406030204" charset="0"/><a:cs typeface="Cambria Math" panose="02040503050406030204" charset="0"/></a:rPr><m:t xml:space="preserve">k,i</m:t></m:r></m:sub></m:sSub><m:r><a:rPr lang="en-US" i="1" sz="1100"><a:latin typeface="Cambria Math" panose="02040503050406030204" charset="0"/><a:cs typeface="Cambria Math" panose="02040503050406030204" charset="0"/></a:rPr><m:t xml:space="preserve">−</m:t></m:r><m:sSub><m:sSubPr><m:ctrlPr><a:rPr lang="en-US" i="1" sz="1100"><a:latin typeface="Cambria Math" panose="02040503050406030204" charset="0"/><a:cs typeface="Cambria Math" panose="02040503050406030204" charset="0"/></a:rPr></m:ctrlPr></m:sSubPr><m:e><m:r><a:rPr lang="en-US" i="1" sz="1100"><a:latin typeface="Cambria Math" panose="02040503050406030204" charset="0"/><a:cs typeface="Cambria Math" panose="02040503050406030204" charset="0"/></a:rPr><m:t xml:space="preserve">E</m:t></m:r></m:e><m:sub><m:r><a:rPr lang="en-US" i="1" sz="1100"><a:latin typeface="Cambria Math" panose="02040503050406030204" charset="0"/><a:cs typeface="Cambria Math" panose="02040503050406030204" charset="0"/></a:rPr><m:t xml:space="preserve">k,f</m:t></m:r></m:sub></m:sSub><m:r><a:rPr lang="en-US" i="1" sz="1100"><a:latin typeface="Cambria Math" panose="02040503050406030204" charset="0"/><a:cs typeface="Cambria Math" panose="02040503050406030204" charset="0"/></a:rPr><m:t xml:space="preserve"></m:t></m:r></m:e></m:mr><m:mr><m:e><m:r><w:rPr/><m:rPr><m:nor/><m:sty m:val="undefined"/></m:rPr><m:t xml:space="preserve">Δ</m:t></m:r><m:sSub><m:sSubPr><m:ctrlPr><a:rPr lang="en-US" i="1" sz="1100"><a:latin typeface="Cambria Math" panose="02040503050406030204" charset="0"/><a:cs typeface="Cambria Math" panose="02040503050406030204" charset="0"/></a:rPr></m:ctrlPr></m:sSubPr><m:e><m:r><a:rPr lang="en-US" i="1" sz="1100"><a:latin typeface="Cambria Math" panose="02040503050406030204" charset="0"/><a:cs typeface="Cambria Math" panose="02040503050406030204" charset="0"/></a:rPr><m:t xml:space="preserve">E</m:t></m:r></m:e><m:sub><m:r><a:rPr lang="en-US" i="1" sz="1100"><a:latin typeface="Cambria Math" panose="02040503050406030204" charset="0"/><a:cs typeface="Cambria Math" panose="02040503050406030204" charset="0"/></a:rPr><m:t xml:space="preserve">k</m:t></m:r></m:sub></m:sSub><m:r><a:rPr lang="en-US" i="1" sz="1100"><a:latin typeface="Cambria Math" panose="02040503050406030204" charset="0"/><a:cs typeface="Cambria Math" panose="02040503050406030204" charset="0"/></a:rPr><m:t xml:space="preserve">=</m:t></m:r><m:f><m:fPr><m:type m:val="bar"/></m:fPr><m:num><m:r><a:rPr lang="en-US" i="1" sz="1100"><a:latin typeface="Cambria Math" panose="02040503050406030204" charset="0"/><a:cs typeface="Cambria Math" panose="02040503050406030204" charset="0"/></a:rPr><m:t xml:space="preserve">1</m:t></m:r></m:num><m:den><m:r><a:rPr lang="en-US" i="1" sz="1100"><a:latin typeface="Cambria Math" panose="02040503050406030204" charset="0"/><a:cs typeface="Cambria Math" panose="02040503050406030204" charset="0"/></a:rPr><m:t xml:space="preserve">2</m:t></m:r></m:den></m:f><m:sSub><m:sSubPr><m:ctrlPr><a:rPr lang="en-US" i="1" sz="1100"><a:latin typeface="Cambria Math" panose="02040503050406030204" charset="0"/><a:cs typeface="Cambria Math" panose="02040503050406030204" charset="0"/></a:rPr></m:ctrlPr></m:sSubPr><m:e><m:r><a:rPr lang="en-US" i="1" sz="1100"><a:latin typeface="Cambria Math" panose="02040503050406030204" charset="0"/><a:cs typeface="Cambria Math" panose="02040503050406030204" charset="0"/></a:rPr><m:t xml:space="preserve">E</m:t></m:r></m:e><m:sub><m:r><a:rPr lang="en-US" i="1" sz="1100"><a:latin typeface="Cambria Math" panose="02040503050406030204" charset="0"/><a:cs typeface="Cambria Math" panose="02040503050406030204" charset="0"/></a:rPr><m:t xml:space="preserve">k,i</m:t></m:r></m:sub></m:sSub></m:e></m:mr></m:m></m:oMath>    </m:oMathPara>   </a14:m>  </a:p> </p:txBody></p:sp></mc:Choice><mc:Fallback><p:sp> <p:nvSpPr>  <p:cNvPr id="11" name="Formula 1"/>  <p:cNvSpPr/>  <p:nvPr/> </p:nvSpPr> <p:spPr>  <a:xfrm><a:off x="4846320" y="2194560"/><a:ext cx="3566160" cy="822960"/></a:xfrm>  <a:prstGeom prst="rect"><a:avLst/></a:prstGeom> </p:spPr> <p:txBody>  <a:bodyPr wrap="square" rtlCol="0"><a:spAutoFit/></a:bodyPr>  <a:lstStyle/>  <a:p><a:r><a:rPr lang="en-US" dirty="0"/><a:t>[Formula]</a:t></a:r></a:p> </p:txBody></p:sp></mc:Fallback></mc:AlternateContent><p:sp><p:nvSpPr><p:cNvPr id="12" name="Text 7"></p:cNvPr><p:cNvSpPr/><p:nvPr></p:nvPr></p:nvSpPr><p:spPr><a:xfrm><a:off x="4846320" y="3108960"/><a:ext cx="3566160" cy="475488"/></a:xfrm><a:prstGeom prst="rect"><a:avLst></a:avLst></a:prstGeom><a:noFill/><a:ln></a:ln></p:spPr><p:txBody><a:bodyPr wrap="square" lIns="91440" tIns="91440" rIns="91440" bIns="91440" rtlCol="0" anchor="t"><a:spAutoFit/></a:bodyPr><a:lstStyle/><a:p><a:pPr indent="0" marL="0"><a:lnSpc><a:spcPct val="120000"/></a:lnSpc><a:spcBef><a:spcPts val="360"/></a:spcBef><a:buNone/></a:pPr><a:r><a:rPr lang="en-US" sz="1296" dirty="0"><a:solidFill><a:srgbClr val="4A5568"/></a:solidFill><a:latin typeface="Microsoft YaHei" pitchFamily="34" charset="0"/><a:ea typeface="Microsoft YaHei" pitchFamily="34" charset="-122"/><a:cs typeface="Microsoft YaHei" pitchFamily="34" charset="-120"/></a:rPr><a:t>结果：50% 的初始动能转化为热能。</a:t></a:r><a:endParaRPr lang="en-US" sz="1152" dirty="0"/></a:p></p:txBody></p:sp><p:sp><p:nvSpPr><p:cNvPr id="13" name="Shape 8"></p:cNvPr><p:cNvSpPr/><p:nvPr></p:nvPr></p:nvSpPr><p:spPr><a:xfrm><a:off x="4846320" y="3657600"/><a:ext cx="3566160" cy="914400"/></a:xfrm><a:custGeom><a:avLst /><a:gdLst></a:gdLst><a:ahLst /><a:cxnLst></a:cxnLst><a:rect l="l" t="t" r="r" b="b" /><a:pathLst><a:path w="3566160" h="914400"><a:moveTo><a:pt x="0" y="0" /></a:moveTo><a:lnTo><a:pt x="3566160" y="0" /></a:lnTo><a:lnTo><a:pt x="3566160" y="914400" /></a:lnTo><a:lnTo><a:pt x="0" y="914400" /></a:lnTo><a:close /></a:path></a:pathLst></a:custGeom><a:solidFill><a:srgbClr val="FEEBC8"/></a:solidFill><a:ln></a:ln></p:spPr></p:sp><p:sp><p:nvSpPr><p:cNvPr id="14" name="Text 9"></p:cNvPr><p:cNvSpPr/><p:nvPr></p:nvPr></p:nvSpPr><p:spPr><a:xfrm><a:off x="4937760" y="3749040"/><a:ext cx="3383280" cy="749808"/></a:xfrm><a:prstGeom prst="rect"><a:avLst></a:avLst></a:prstGeom><a:noFill/><a:ln></a:ln></p:spPr><p:txBody><a:bodyPr wrap="square" lIns="91440" tIns="91440" rIns="91440" bIns="91440" rtlCol="0" anchor="t"><a:spAutoFit/></a:bodyPr><a:lstStyle/><a:p><a:pPr indent="0" marL="0"><a:lnSpc><a:spcPct val="120000"/></a:lnSpc><a:spcBef><a:spcPts val="360"/></a:spcBef><a:buNone/></a:pPr><a:r><a:rPr lang="en-US" sz="1152" b="1" dirty="0"><a:solidFill><a:srgbClr val="744210"/></a:solidFill><a:latin typeface="Microsoft YaHei" pitchFamily="34" charset="0"/><a:ea typeface="Microsoft YaHei" pitchFamily="34" charset="-122"/><a:cs typeface="Microsoft YaHei" pitchFamily="34" charset="-120"/></a:rPr><a:t>思考：</a:t></a:r><a:pPr indent="0" marL="0"><a:lnSpc><a:spcPct val="120000"/></a:lnSpc><a:spcBef><a:spcPts val="360"/></a:spcBef><a:buNone/></a:pPr><a:r><a:rPr lang="en-US" sz="1152" dirty="0"><a:solidFill><a:srgbClr val="744210"/></a:solidFill><a:latin typeface="Microsoft YaHei" pitchFamily="34" charset="0"/><a:ea typeface="Microsoft YaHei" pitchFamily="34" charset="-122"/><a:cs typeface="Microsoft YaHei" pitchFamily="34" charset="-120"/></a:rPr><a:t>在现实工程设计中，如何处理这种剧烈的能量转化对机械结构的影响？</a:t></a:r><a:endParaRPr lang="en-US" sz="1152" dirty="0"/></a:p></p:txBody></p:sp></p:spTree></p:cSld><p:clrMapOvr><a:masterClrMapping/></p:clrMapOvr>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经典应用：冲击摆 (Ballistic Pendulum)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18288"/>
          </a:xfrm>
          <a:custGeom>
            <a:avLst/>
            <a:gdLst/>
            <a:ahLst/>
            <a:cxnLst/>
            <a:rect l="l" t="t" r="r" b="b"/>
            <a:pathLst>
              <a:path w="7863840" h="18288">
                <a:moveTo>
                  <a:pt x="0" y="0"/>
                </a:moveTo>
                <a:lnTo>
                  <a:pt x="7863840" y="0"/>
                </a:lnTo>
                <a:lnTo>
                  <a:pt x="786384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4A90E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80160"/>
            <a:ext cx="3657600" cy="2057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280160"/>
            <a:ext cx="40233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90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1：碰撞过程 (极短时间)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7" name="Formula 0"/>
              <p:cNvSpPr/>
              <p:nvPr/>
            </p:nvSpPr>
            <p:spPr>
              <a:xfrm>
                <a:off x="731520" y="1691640"/>
                <a:ext cx="2743200" cy="45720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200"/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i="1" sz="12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m</m:t>
                      </m:r>
                      <m:sSub>
                        <m:sSubPr>
                          <m:ctrlPr>
                            <a:rPr lang="en-US" i="1" sz="1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2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0</m:t>
                          </m:r>
                        </m:sub>
                      </m:sSub>
                      <m:r>
                        <a:rPr lang="en-US" i="1" sz="12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=(m+M)v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Formula 0"/>
              <p:cNvSpPr/>
              <p:nvPr/>
            </p:nvSpPr>
            <p:spPr>
              <a:xfrm>
                <a:off x="731520" y="1691640"/>
                <a:ext cx="2743200" cy="45720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8" name="Text 3"/>
          <p:cNvSpPr/>
          <p:nvPr/>
        </p:nvSpPr>
        <p:spPr>
          <a:xfrm>
            <a:off x="548640" y="2240280"/>
            <a:ext cx="40233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ECC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2：摆动过程 (上升高度 h)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9" name="Formula 1"/>
              <p:cNvSpPr/>
              <p:nvPr/>
            </p:nvSpPr>
            <p:spPr>
              <a:xfrm>
                <a:off x="731520" y="2651760"/>
                <a:ext cx="365760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700"/>
                </a:pPr>
                <a14:m>
                  <m:oMathPara>
                    <m:oMathParaPr>
                      <m:jc m:val="left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den>
                      </m:f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(m+M)</m:t>
                      </m:r>
                      <m:sSup>
                        <m:sSupPr>
                          <m:ctrlP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p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</m:t>
                          </m:r>
                        </m:sup>
                      </m:sSu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=(m+M)gh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" name="Formula 1"/>
              <p:cNvSpPr/>
              <p:nvPr/>
            </p:nvSpPr>
            <p:spPr>
              <a:xfrm>
                <a:off x="731520" y="2651760"/>
                <a:ext cx="365760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0" name="Shape 4"/>
          <p:cNvSpPr/>
          <p:nvPr/>
        </p:nvSpPr>
        <p:spPr>
          <a:xfrm>
            <a:off x="548640" y="3566160"/>
            <a:ext cx="4023360" cy="914400"/>
          </a:xfrm>
          <a:custGeom>
            <a:avLst/>
            <a:gdLst/>
            <a:ahLst/>
            <a:cxnLst/>
            <a:rect l="l" t="t" r="r" b="b"/>
            <a:pathLst>
              <a:path w="4023360" h="914400">
                <a:moveTo>
                  <a:pt x="0" y="0"/>
                </a:moveTo>
                <a:lnTo>
                  <a:pt x="4023360" y="0"/>
                </a:lnTo>
                <a:lnTo>
                  <a:pt x="402336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Text 5"/>
          <p:cNvSpPr/>
          <p:nvPr/>
        </p:nvSpPr>
        <p:spPr>
          <a:xfrm>
            <a:off x="73152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为什么全过程动量不守恒？(提示：合外力)</a:t>
            </a:r>
            <a:endParaRPr lang="en-US" sz="1152" dirty="0"/>
          </a:p>
        </p:txBody>
      </p:sp>
      <p:sp>
        <p:nvSpPr>
          <p:cNvPr id="12" name="Text 6"/>
          <p:cNvSpPr/>
          <p:nvPr/>
        </p:nvSpPr>
        <p:spPr>
          <a:xfrm>
            <a:off x="4937760" y="3566160"/>
            <a:ext cx="36576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子弹初速度推导结果：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3" name="Formula 2"/>
              <p:cNvSpPr/>
              <p:nvPr/>
            </p:nvSpPr>
            <p:spPr>
              <a:xfrm>
                <a:off x="4937760" y="3977640"/>
                <a:ext cx="365760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900"/>
                </a:pPr>
                <a14:m>
                  <m:oMathPara>
                    <m:oMathParaPr>
                      <m:jc m:val="centerGroup"/>
                    </m:oMathParaPr>
                    <m:oMath>
                      <m:sSub>
                        <m:sSubPr>
                          <m:ctrlP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0</m:t>
                          </m:r>
                        </m:sub>
                      </m:sSub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m+M</m:t>
                          </m:r>
                        </m:num>
                        <m:den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m</m:t>
                          </m:r>
                        </m:den>
                      </m:f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2gh</m:t>
                          </m:r>
                        </m:e>
                      </m:rad>
                    </m:oMath>
                  </m:oMathPara>
                </a14:m>
              </a:p>
            </p:txBody>
          </p:sp>
        </mc:Choice>
        <mc:Fallback>
          <p:sp>
            <p:nvSpPr>
              <p:cNvPr id="13" name="Formula 2"/>
              <p:cNvSpPr/>
              <p:nvPr/>
            </p:nvSpPr>
            <p:spPr>
              <a:xfrm>
                <a:off x="4937760" y="3977640"/>
                <a:ext cx="365760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课程总结与反思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5B9BD5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120640" cy="1645920"/>
        </p:xfrm>
        <a:graphic>
          <a:graphicData uri="http://schemas.openxmlformats.org/drawingml/2006/table">
            <a:tbl>
              <a:tblPr/>
              <a:tblGrid>
                <a:gridCol w="1536192"/>
                <a:gridCol w="1792224"/>
                <a:gridCol w="179222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碰撞类型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动量守恒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动能特征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弹性碰撞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守恒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守恒 (无损失)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非弹性碰撞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守恒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有损失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完全非弹性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守恒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动能损失最大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1463040"/>
            <a:ext cx="2651760" cy="1645920"/>
          </a:xfrm>
          <a:custGeom>
            <a:avLst/>
            <a:gdLst/>
            <a:ahLst/>
            <a:cxnLst/>
            <a:rect l="l" t="t" r="r" b="b"/>
            <a:pathLst>
              <a:path w="2651760" h="1645920">
                <a:moveTo>
                  <a:pt x="0" y="0"/>
                </a:moveTo>
                <a:lnTo>
                  <a:pt x="2651760" y="0"/>
                </a:lnTo>
                <a:lnTo>
                  <a:pt x="2651760" y="1645920"/>
                </a:lnTo>
                <a:lnTo>
                  <a:pt x="0" y="1645920"/>
                </a:lnTo>
                <a:close/>
              </a:path>
            </a:pathLst>
          </a:custGeom>
          <a:solidFill>
            <a:srgbClr val="EEF2FF"/>
          </a:solidFill>
          <a:ln/>
        </p:spPr>
      </p:sp>
      <p:sp>
        <p:nvSpPr>
          <p:cNvPr id="7" name="Text 3"/>
          <p:cNvSpPr/>
          <p:nvPr/>
        </p:nvSpPr>
        <p:spPr>
          <a:xfrm>
            <a:off x="6126480" y="1719072"/>
            <a:ext cx="228600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处理碰撞“两步法”：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明确系统与物理过程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联立动量与能量方程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48640" y="3566160"/>
            <a:ext cx="45720" cy="603504"/>
          </a:xfrm>
          <a:custGeom>
            <a:avLst/>
            <a:gdLst/>
            <a:ahLst/>
            <a:cxnLst/>
            <a:rect l="l" t="t" r="r" b="b"/>
            <a:pathLst>
              <a:path w="45720" h="603504">
                <a:moveTo>
                  <a:pt x="0" y="0"/>
                </a:moveTo>
                <a:lnTo>
                  <a:pt x="45720" y="0"/>
                </a:lnTo>
                <a:lnTo>
                  <a:pt x="45720" y="603504"/>
                </a:lnTo>
                <a:lnTo>
                  <a:pt x="0" y="603504"/>
                </a:lnTo>
                <a:close/>
              </a:path>
            </a:pathLst>
          </a:custGeom>
          <a:solidFill>
            <a:srgbClr val="ED7D31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3493008"/>
            <a:ext cx="786384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深度思考：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如果碰撞不是正碰（如斜碰或二维碰撞），动量守恒定律依然适用吗？</a:t>
            </a:r>
            <a:endParaRPr lang="en-US" sz="1152" dirty="0"/>
          </a:p>
        </p:txBody>
      </p:sp>
      <p:sp>
        <p:nvSpPr>
          <p:cNvPr id="10" name="Text 6"/>
          <p:cNvSpPr/>
          <p:nvPr/>
        </p:nvSpPr>
        <p:spPr>
          <a:xfrm>
            <a:off x="4572000" y="4480560"/>
            <a:ext cx="40233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i="1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物理之美：用简单的守恒律解释复杂的混乱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2026-05-26T10:03:11Z</dcterms:created>
  <dcterms:modified xsi:type="dcterms:W3CDTF">2026-05-26T10:03:11Z</dcterms:modified>
</cp:coreProperties>
</file>